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6" r:id="rId2"/>
    <p:sldId id="269" r:id="rId3"/>
    <p:sldId id="285" r:id="rId4"/>
    <p:sldId id="257" r:id="rId5"/>
    <p:sldId id="288" r:id="rId6"/>
    <p:sldId id="300" r:id="rId7"/>
    <p:sldId id="301" r:id="rId8"/>
    <p:sldId id="286" r:id="rId9"/>
    <p:sldId id="287" r:id="rId10"/>
    <p:sldId id="289" r:id="rId11"/>
    <p:sldId id="303" r:id="rId12"/>
    <p:sldId id="304" r:id="rId13"/>
    <p:sldId id="305" r:id="rId14"/>
    <p:sldId id="306" r:id="rId15"/>
    <p:sldId id="307" r:id="rId16"/>
    <p:sldId id="290" r:id="rId17"/>
    <p:sldId id="308" r:id="rId18"/>
    <p:sldId id="268" r:id="rId19"/>
  </p:sldIdLst>
  <p:sldSz cx="10693400" cy="7556500"/>
  <p:notesSz cx="10693400" cy="7556500"/>
  <p:embeddedFontLst>
    <p:embeddedFont>
      <p:font typeface="Roboto" panose="02000000000000000000" pitchFamily="2" charset="0"/>
      <p:regular r:id="rId21"/>
      <p:bold r:id="rId22"/>
      <p:italic r:id="rId23"/>
      <p:boldItalic r:id="rId24"/>
    </p:embeddedFont>
    <p:embeddedFont>
      <p:font typeface="Tahoma" panose="020B0604030504040204" pitchFamily="34" charset="0"/>
      <p:regular r:id="rId25"/>
      <p:bold r:id="rId26"/>
    </p:embeddedFont>
    <p:embeddedFont>
      <p:font typeface="TimesNewRomanPSMT" panose="020B0604020202020204" charset="0"/>
      <p:regular r:id="rId27"/>
    </p:embeddedFont>
  </p:embeddedFontLst>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463" autoAdjust="0"/>
  </p:normalViewPr>
  <p:slideViewPr>
    <p:cSldViewPr snapToGrid="0">
      <p:cViewPr varScale="1">
        <p:scale>
          <a:sx n="106" d="100"/>
          <a:sy n="106" d="100"/>
        </p:scale>
        <p:origin x="125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743B2B1B-795E-4F31-8C1F-DA68188A211F}" type="datetimeFigureOut">
              <a:rPr lang="en-US" smtClean="0"/>
              <a:t>2026/03/07</a:t>
            </a:fld>
            <a:endParaRPr lang="en-US"/>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51B0A55C-C0BA-40BF-89AB-0996228E76C1}" type="slidenum">
              <a:rPr lang="en-US" smtClean="0"/>
              <a:t>‹#›</a:t>
            </a:fld>
            <a:endParaRPr lang="en-US"/>
          </a:p>
        </p:txBody>
      </p:sp>
    </p:spTree>
    <p:extLst>
      <p:ext uri="{BB962C8B-B14F-4D97-AF65-F5344CB8AC3E}">
        <p14:creationId xmlns:p14="http://schemas.microsoft.com/office/powerpoint/2010/main" val="277090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0A55C-C0BA-40BF-89AB-0996228E76C1}" type="slidenum">
              <a:rPr lang="en-US" smtClean="0"/>
              <a:t>1</a:t>
            </a:fld>
            <a:endParaRPr lang="en-US"/>
          </a:p>
        </p:txBody>
      </p:sp>
    </p:spTree>
    <p:extLst>
      <p:ext uri="{BB962C8B-B14F-4D97-AF65-F5344CB8AC3E}">
        <p14:creationId xmlns:p14="http://schemas.microsoft.com/office/powerpoint/2010/main" val="4132117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0A55C-C0BA-40BF-89AB-0996228E76C1}" type="slidenum">
              <a:rPr lang="en-US" smtClean="0"/>
              <a:t>6</a:t>
            </a:fld>
            <a:endParaRPr lang="en-US"/>
          </a:p>
        </p:txBody>
      </p:sp>
    </p:spTree>
    <p:extLst>
      <p:ext uri="{BB962C8B-B14F-4D97-AF65-F5344CB8AC3E}">
        <p14:creationId xmlns:p14="http://schemas.microsoft.com/office/powerpoint/2010/main" val="877409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C7958-74CA-60C6-C78B-882DCD47DA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97FA3-220F-4713-ADD0-0215C4353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30C70-BA3B-7441-7ACB-022985654B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EEC6EF-95DE-DA49-392E-16E722B6E8CD}"/>
              </a:ext>
            </a:extLst>
          </p:cNvPr>
          <p:cNvSpPr>
            <a:spLocks noGrp="1"/>
          </p:cNvSpPr>
          <p:nvPr>
            <p:ph type="sldNum" sz="quarter" idx="5"/>
          </p:nvPr>
        </p:nvSpPr>
        <p:spPr/>
        <p:txBody>
          <a:bodyPr/>
          <a:lstStyle/>
          <a:p>
            <a:fld id="{51B0A55C-C0BA-40BF-89AB-0996228E76C1}" type="slidenum">
              <a:rPr lang="en-US" smtClean="0"/>
              <a:t>7</a:t>
            </a:fld>
            <a:endParaRPr lang="en-US"/>
          </a:p>
        </p:txBody>
      </p:sp>
    </p:spTree>
    <p:extLst>
      <p:ext uri="{BB962C8B-B14F-4D97-AF65-F5344CB8AC3E}">
        <p14:creationId xmlns:p14="http://schemas.microsoft.com/office/powerpoint/2010/main" val="3114342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0A55C-C0BA-40BF-89AB-0996228E76C1}" type="slidenum">
              <a:rPr lang="en-US" smtClean="0"/>
              <a:t>11</a:t>
            </a:fld>
            <a:endParaRPr lang="en-US"/>
          </a:p>
        </p:txBody>
      </p:sp>
    </p:spTree>
    <p:extLst>
      <p:ext uri="{BB962C8B-B14F-4D97-AF65-F5344CB8AC3E}">
        <p14:creationId xmlns:p14="http://schemas.microsoft.com/office/powerpoint/2010/main" val="3633324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089F2-8CB1-FFB0-73F1-05132E7E9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644A8-C997-0895-8597-BA9333EEF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AF5D3E-40BF-EB0B-0AFD-CF8CEF231E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60A8B2-9CE6-3797-2F2C-FDFA0E89685C}"/>
              </a:ext>
            </a:extLst>
          </p:cNvPr>
          <p:cNvSpPr>
            <a:spLocks noGrp="1"/>
          </p:cNvSpPr>
          <p:nvPr>
            <p:ph type="sldNum" sz="quarter" idx="5"/>
          </p:nvPr>
        </p:nvSpPr>
        <p:spPr/>
        <p:txBody>
          <a:bodyPr/>
          <a:lstStyle/>
          <a:p>
            <a:fld id="{51B0A55C-C0BA-40BF-89AB-0996228E76C1}" type="slidenum">
              <a:rPr lang="en-US" smtClean="0"/>
              <a:t>12</a:t>
            </a:fld>
            <a:endParaRPr lang="en-US"/>
          </a:p>
        </p:txBody>
      </p:sp>
    </p:spTree>
    <p:extLst>
      <p:ext uri="{BB962C8B-B14F-4D97-AF65-F5344CB8AC3E}">
        <p14:creationId xmlns:p14="http://schemas.microsoft.com/office/powerpoint/2010/main" val="2685956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E1999-245F-7D81-9319-D11304A11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52A1C-ADD3-E826-FE7D-EC1A045407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C17DE-2E11-63CC-D498-C07EFCB5C0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72E123-808F-DE8C-4D8E-3A1CF4DFA5A9}"/>
              </a:ext>
            </a:extLst>
          </p:cNvPr>
          <p:cNvSpPr>
            <a:spLocks noGrp="1"/>
          </p:cNvSpPr>
          <p:nvPr>
            <p:ph type="sldNum" sz="quarter" idx="5"/>
          </p:nvPr>
        </p:nvSpPr>
        <p:spPr/>
        <p:txBody>
          <a:bodyPr/>
          <a:lstStyle/>
          <a:p>
            <a:fld id="{51B0A55C-C0BA-40BF-89AB-0996228E76C1}" type="slidenum">
              <a:rPr lang="en-US" smtClean="0"/>
              <a:t>13</a:t>
            </a:fld>
            <a:endParaRPr lang="en-US"/>
          </a:p>
        </p:txBody>
      </p:sp>
    </p:spTree>
    <p:extLst>
      <p:ext uri="{BB962C8B-B14F-4D97-AF65-F5344CB8AC3E}">
        <p14:creationId xmlns:p14="http://schemas.microsoft.com/office/powerpoint/2010/main" val="3316413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7E236-EECD-9EFE-CF42-FB6FEDE50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5ACB5-8C65-F81F-499E-67912E33B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B93CB-105D-8A7F-3C9E-43658E9258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DAD6C2-6725-8794-F7A9-6E34C7F4F066}"/>
              </a:ext>
            </a:extLst>
          </p:cNvPr>
          <p:cNvSpPr>
            <a:spLocks noGrp="1"/>
          </p:cNvSpPr>
          <p:nvPr>
            <p:ph type="sldNum" sz="quarter" idx="5"/>
          </p:nvPr>
        </p:nvSpPr>
        <p:spPr/>
        <p:txBody>
          <a:bodyPr/>
          <a:lstStyle/>
          <a:p>
            <a:fld id="{51B0A55C-C0BA-40BF-89AB-0996228E76C1}" type="slidenum">
              <a:rPr lang="en-US" smtClean="0"/>
              <a:t>14</a:t>
            </a:fld>
            <a:endParaRPr lang="en-US"/>
          </a:p>
        </p:txBody>
      </p:sp>
    </p:spTree>
    <p:extLst>
      <p:ext uri="{BB962C8B-B14F-4D97-AF65-F5344CB8AC3E}">
        <p14:creationId xmlns:p14="http://schemas.microsoft.com/office/powerpoint/2010/main" val="3229245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F90DE-C6CD-D495-E035-2250ABB005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4F504-45BA-0BD5-9184-12326EA579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95BE6-7063-DFC8-D6B5-FA5716C537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451C22-5C7D-0755-CDC9-5A0D746B91E6}"/>
              </a:ext>
            </a:extLst>
          </p:cNvPr>
          <p:cNvSpPr>
            <a:spLocks noGrp="1"/>
          </p:cNvSpPr>
          <p:nvPr>
            <p:ph type="sldNum" sz="quarter" idx="5"/>
          </p:nvPr>
        </p:nvSpPr>
        <p:spPr/>
        <p:txBody>
          <a:bodyPr/>
          <a:lstStyle/>
          <a:p>
            <a:fld id="{51B0A55C-C0BA-40BF-89AB-0996228E76C1}" type="slidenum">
              <a:rPr lang="en-US" smtClean="0"/>
              <a:t>15</a:t>
            </a:fld>
            <a:endParaRPr lang="en-US"/>
          </a:p>
        </p:txBody>
      </p:sp>
    </p:spTree>
    <p:extLst>
      <p:ext uri="{BB962C8B-B14F-4D97-AF65-F5344CB8AC3E}">
        <p14:creationId xmlns:p14="http://schemas.microsoft.com/office/powerpoint/2010/main" val="1474626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wazuh.com/blog/auto-draft/#SSL/TLS-certificate-validation-threats" TargetMode="External"/><Relationship Id="rId5" Type="http://schemas.openxmlformats.org/officeDocument/2006/relationships/hyperlink" Target="https://wazuh.com/blog/auto-draft/#Reconnaissance-and-port-scanning-activity" TargetMode="External"/><Relationship Id="rId4" Type="http://schemas.openxmlformats.org/officeDocument/2006/relationships/hyperlink" Target="https://wazuh.com/blog/auto-draft/#DNS-queries"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Picture 10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 y="0"/>
            <a:ext cx="10692383" cy="7556500"/>
          </a:xfrm>
          <a:prstGeom prst="rect">
            <a:avLst/>
          </a:prstGeom>
          <a:noFill/>
        </p:spPr>
      </p:pic>
      <p:pic>
        <p:nvPicPr>
          <p:cNvPr id="101" name="Picture 10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9896153" y="6840415"/>
            <a:ext cx="728940" cy="654187"/>
          </a:xfrm>
          <a:prstGeom prst="rect">
            <a:avLst/>
          </a:prstGeom>
          <a:noFill/>
        </p:spPr>
      </p:pic>
      <p:sp>
        <p:nvSpPr>
          <p:cNvPr id="2" name="Rectangle 105">
            <a:extLst>
              <a:ext uri="{FF2B5EF4-FFF2-40B4-BE49-F238E27FC236}">
                <a16:creationId xmlns:a16="http://schemas.microsoft.com/office/drawing/2014/main" id="{1AB92A74-C534-7821-4590-C9B9F1766ECE}"/>
              </a:ext>
            </a:extLst>
          </p:cNvPr>
          <p:cNvSpPr/>
          <p:nvPr/>
        </p:nvSpPr>
        <p:spPr>
          <a:xfrm>
            <a:off x="6671771" y="7116876"/>
            <a:ext cx="3157093" cy="369332"/>
          </a:xfrm>
          <a:prstGeom prst="rect">
            <a:avLst/>
          </a:prstGeom>
        </p:spPr>
        <p:txBody>
          <a:bodyPr wrap="square" lIns="0" tIns="0" rIns="0" bIns="0">
            <a:spAutoFit/>
          </a:bodyPr>
          <a:lstStyle/>
          <a:p>
            <a:pPr marL="0"/>
            <a:r>
              <a:rPr lang="en-US" sz="2400" dirty="0" err="1"/>
              <a:t>Thien.dinh</a:t>
            </a:r>
            <a:r>
              <a:rPr lang="en-US" sz="2400" dirty="0"/>
              <a:t> </a:t>
            </a:r>
            <a:r>
              <a:rPr lang="zh-CN" altLang="en-US" sz="2400" dirty="0"/>
              <a:t>（丁德善</a:t>
            </a:r>
            <a:r>
              <a:rPr lang="en-US" sz="2400" dirty="0"/>
              <a:t> </a:t>
            </a:r>
            <a:r>
              <a:rPr lang="zh-CN" altLang="en-US" sz="2400" dirty="0"/>
              <a:t>）</a:t>
            </a:r>
            <a:endParaRPr lang="en-US" sz="2400" dirty="0"/>
          </a:p>
        </p:txBody>
      </p:sp>
      <p:sp>
        <p:nvSpPr>
          <p:cNvPr id="7" name="TextBox 6">
            <a:extLst>
              <a:ext uri="{FF2B5EF4-FFF2-40B4-BE49-F238E27FC236}">
                <a16:creationId xmlns:a16="http://schemas.microsoft.com/office/drawing/2014/main" id="{84FD50EB-A1A6-DDA7-4CD1-241F5B017C79}"/>
              </a:ext>
            </a:extLst>
          </p:cNvPr>
          <p:cNvSpPr txBox="1"/>
          <p:nvPr/>
        </p:nvSpPr>
        <p:spPr>
          <a:xfrm>
            <a:off x="1075098" y="440381"/>
            <a:ext cx="6611293" cy="966098"/>
          </a:xfrm>
          <a:prstGeom prst="rect">
            <a:avLst/>
          </a:prstGeom>
          <a:noFill/>
        </p:spPr>
        <p:txBody>
          <a:bodyPr wrap="square">
            <a:spAutoFit/>
          </a:bodyPr>
          <a:lstStyle/>
          <a:p>
            <a:pPr algn="l">
              <a:lnSpc>
                <a:spcPts val="3600"/>
              </a:lnSpc>
              <a:buNone/>
            </a:pPr>
            <a:r>
              <a:rPr lang="en-US" sz="25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Network security monitoring with </a:t>
            </a:r>
            <a:r>
              <a:rPr lang="en-US" sz="2500" b="0" i="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Wazuh</a:t>
            </a:r>
            <a:r>
              <a:rPr lang="en-US" sz="25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and Zeek</a:t>
            </a:r>
            <a:r>
              <a:rPr lang="en-US" sz="25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2500" b="1" i="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Wazuh</a:t>
            </a:r>
            <a:r>
              <a:rPr lang="en-US" sz="25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4.14.3</a:t>
            </a:r>
            <a:endParaRPr lang="en-US" sz="25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8" name="Rectangle 105">
            <a:extLst>
              <a:ext uri="{FF2B5EF4-FFF2-40B4-BE49-F238E27FC236}">
                <a16:creationId xmlns:a16="http://schemas.microsoft.com/office/drawing/2014/main" id="{21534900-4476-C23A-470C-4B8A4E3F6BD0}"/>
              </a:ext>
            </a:extLst>
          </p:cNvPr>
          <p:cNvSpPr/>
          <p:nvPr/>
        </p:nvSpPr>
        <p:spPr>
          <a:xfrm>
            <a:off x="708128" y="1846860"/>
            <a:ext cx="4397038" cy="369332"/>
          </a:xfrm>
          <a:prstGeom prst="rect">
            <a:avLst/>
          </a:prstGeom>
        </p:spPr>
        <p:txBody>
          <a:bodyPr wrap="none" lIns="0" tIns="0" rIns="0" bIns="0">
            <a:spAutoFit/>
          </a:bodyPr>
          <a:lstStyle/>
          <a:p>
            <a:pPr marL="0"/>
            <a:r>
              <a:rPr lang="en-US" sz="2400" dirty="0"/>
              <a:t>Server Requirements / </a:t>
            </a:r>
            <a:r>
              <a:rPr lang="zh-CN" altLang="en-US" sz="2400" dirty="0"/>
              <a:t>系統需求</a:t>
            </a:r>
            <a:endParaRPr lang="en-US" sz="2400" b="0" i="0" spc="0" baseline="0" dirty="0">
              <a:solidFill>
                <a:srgbClr val="0000FF"/>
              </a:solidFill>
              <a:latin typeface="TimesNewRomanPSMT"/>
            </a:endParaRPr>
          </a:p>
        </p:txBody>
      </p:sp>
      <p:sp>
        <p:nvSpPr>
          <p:cNvPr id="9" name="TextBox 8">
            <a:extLst>
              <a:ext uri="{FF2B5EF4-FFF2-40B4-BE49-F238E27FC236}">
                <a16:creationId xmlns:a16="http://schemas.microsoft.com/office/drawing/2014/main" id="{305262DB-7169-69A7-29B3-4552A6EC2B16}"/>
              </a:ext>
            </a:extLst>
          </p:cNvPr>
          <p:cNvSpPr txBox="1"/>
          <p:nvPr/>
        </p:nvSpPr>
        <p:spPr>
          <a:xfrm>
            <a:off x="6372226" y="1655359"/>
            <a:ext cx="3053095" cy="1477328"/>
          </a:xfrm>
          <a:prstGeom prst="rect">
            <a:avLst/>
          </a:prstGeom>
          <a:noFill/>
        </p:spPr>
        <p:txBody>
          <a:bodyPr wrap="square">
            <a:spAutoFit/>
          </a:bodyPr>
          <a:lstStyle/>
          <a:p>
            <a:r>
              <a:rPr lang="en-US" dirty="0" err="1">
                <a:solidFill>
                  <a:srgbClr val="3C4043"/>
                </a:solidFill>
                <a:latin typeface="Roboto" panose="02000000000000000000" pitchFamily="2" charset="0"/>
              </a:rPr>
              <a:t>W</a:t>
            </a:r>
            <a:r>
              <a:rPr lang="en-US" altLang="zh-CN" dirty="0" err="1">
                <a:solidFill>
                  <a:srgbClr val="3C4043"/>
                </a:solidFill>
                <a:latin typeface="Roboto" panose="02000000000000000000" pitchFamily="2" charset="0"/>
              </a:rPr>
              <a:t>azuh</a:t>
            </a:r>
            <a:r>
              <a:rPr lang="en-US" altLang="zh-CN" dirty="0">
                <a:solidFill>
                  <a:srgbClr val="3C4043"/>
                </a:solidFill>
                <a:latin typeface="Roboto" panose="02000000000000000000" pitchFamily="2" charset="0"/>
              </a:rPr>
              <a:t>-server</a:t>
            </a:r>
            <a:endParaRPr lang="en-US" b="0" i="0" dirty="0">
              <a:solidFill>
                <a:srgbClr val="3C4043"/>
              </a:solidFill>
              <a:effectLst/>
              <a:latin typeface="Roboto" panose="02000000000000000000" pitchFamily="2" charset="0"/>
            </a:endParaRPr>
          </a:p>
          <a:p>
            <a:r>
              <a:rPr lang="en-US" b="0" i="0" dirty="0">
                <a:solidFill>
                  <a:srgbClr val="3C4043"/>
                </a:solidFill>
                <a:effectLst/>
                <a:latin typeface="Roboto" panose="02000000000000000000" pitchFamily="2" charset="0"/>
              </a:rPr>
              <a:t>OS: Ubuntu 22.04 </a:t>
            </a:r>
          </a:p>
          <a:p>
            <a:r>
              <a:rPr lang="en-US" b="0" i="0" dirty="0">
                <a:solidFill>
                  <a:srgbClr val="3C4043"/>
                </a:solidFill>
                <a:effectLst/>
                <a:latin typeface="Roboto" panose="02000000000000000000" pitchFamily="2" charset="0"/>
              </a:rPr>
              <a:t>CPU: 4 Cores. </a:t>
            </a:r>
          </a:p>
          <a:p>
            <a:r>
              <a:rPr lang="en-US" b="0" i="0" dirty="0">
                <a:solidFill>
                  <a:srgbClr val="3C4043"/>
                </a:solidFill>
                <a:effectLst/>
                <a:latin typeface="Roboto" panose="02000000000000000000" pitchFamily="2" charset="0"/>
              </a:rPr>
              <a:t>RAM: </a:t>
            </a:r>
            <a:r>
              <a:rPr lang="en-US" dirty="0">
                <a:solidFill>
                  <a:srgbClr val="3C4043"/>
                </a:solidFill>
                <a:latin typeface="Roboto" panose="02000000000000000000" pitchFamily="2" charset="0"/>
              </a:rPr>
              <a:t>16</a:t>
            </a:r>
            <a:r>
              <a:rPr lang="en-US" b="0" i="0" dirty="0">
                <a:solidFill>
                  <a:srgbClr val="3C4043"/>
                </a:solidFill>
                <a:effectLst/>
                <a:latin typeface="Roboto" panose="02000000000000000000" pitchFamily="2" charset="0"/>
              </a:rPr>
              <a:t>GB (Minimum). </a:t>
            </a:r>
          </a:p>
          <a:p>
            <a:r>
              <a:rPr lang="en-US" b="0" i="0" dirty="0">
                <a:solidFill>
                  <a:srgbClr val="3C4043"/>
                </a:solidFill>
                <a:effectLst/>
                <a:latin typeface="Roboto" panose="02000000000000000000" pitchFamily="2" charset="0"/>
              </a:rPr>
              <a:t>Disk: 5</a:t>
            </a:r>
            <a:r>
              <a:rPr lang="en-US" dirty="0">
                <a:solidFill>
                  <a:srgbClr val="3C4043"/>
                </a:solidFill>
                <a:latin typeface="Roboto" panose="02000000000000000000" pitchFamily="2" charset="0"/>
              </a:rPr>
              <a:t>00</a:t>
            </a:r>
            <a:r>
              <a:rPr lang="en-US" b="0" i="0" dirty="0">
                <a:solidFill>
                  <a:srgbClr val="3C4043"/>
                </a:solidFill>
                <a:effectLst/>
                <a:latin typeface="Roboto" panose="02000000000000000000" pitchFamily="2" charset="0"/>
              </a:rPr>
              <a:t>GB  or larger.</a:t>
            </a:r>
            <a:endParaRPr lang="en-US" dirty="0"/>
          </a:p>
        </p:txBody>
      </p:sp>
      <p:pic>
        <p:nvPicPr>
          <p:cNvPr id="10" name="Picture 9">
            <a:extLst>
              <a:ext uri="{FF2B5EF4-FFF2-40B4-BE49-F238E27FC236}">
                <a16:creationId xmlns:a16="http://schemas.microsoft.com/office/drawing/2014/main" id="{A9B1C55D-F461-B55F-08B7-3FAA601118AE}"/>
              </a:ext>
            </a:extLst>
          </p:cNvPr>
          <p:cNvPicPr>
            <a:picLocks noChangeAspect="1"/>
          </p:cNvPicPr>
          <p:nvPr/>
        </p:nvPicPr>
        <p:blipFill>
          <a:blip r:embed="rId5"/>
          <a:stretch>
            <a:fillRect/>
          </a:stretch>
        </p:blipFill>
        <p:spPr>
          <a:xfrm>
            <a:off x="5522612" y="3132687"/>
            <a:ext cx="4952961" cy="3438095"/>
          </a:xfrm>
          <a:prstGeom prst="rect">
            <a:avLst/>
          </a:prstGeom>
        </p:spPr>
      </p:pic>
      <p:sp>
        <p:nvSpPr>
          <p:cNvPr id="11" name="TextBox 10">
            <a:extLst>
              <a:ext uri="{FF2B5EF4-FFF2-40B4-BE49-F238E27FC236}">
                <a16:creationId xmlns:a16="http://schemas.microsoft.com/office/drawing/2014/main" id="{15B0BC3F-6282-05B1-0E3B-06832535817D}"/>
              </a:ext>
            </a:extLst>
          </p:cNvPr>
          <p:cNvSpPr txBox="1"/>
          <p:nvPr/>
        </p:nvSpPr>
        <p:spPr>
          <a:xfrm>
            <a:off x="893371" y="2514675"/>
            <a:ext cx="3053095" cy="1477328"/>
          </a:xfrm>
          <a:prstGeom prst="rect">
            <a:avLst/>
          </a:prstGeom>
          <a:noFill/>
        </p:spPr>
        <p:txBody>
          <a:bodyPr wrap="square">
            <a:spAutoFit/>
          </a:bodyPr>
          <a:lstStyle/>
          <a:p>
            <a:r>
              <a:rPr lang="en-US" dirty="0">
                <a:solidFill>
                  <a:srgbClr val="3C4043"/>
                </a:solidFill>
                <a:latin typeface="Roboto" panose="02000000000000000000" pitchFamily="2" charset="0"/>
              </a:rPr>
              <a:t>Zeek</a:t>
            </a:r>
            <a:r>
              <a:rPr lang="en-US" altLang="zh-CN" dirty="0">
                <a:solidFill>
                  <a:srgbClr val="3C4043"/>
                </a:solidFill>
                <a:latin typeface="Roboto" panose="02000000000000000000" pitchFamily="2" charset="0"/>
              </a:rPr>
              <a:t>-server</a:t>
            </a:r>
            <a:endParaRPr lang="en-US" b="0" i="0" dirty="0">
              <a:solidFill>
                <a:srgbClr val="3C4043"/>
              </a:solidFill>
              <a:effectLst/>
              <a:latin typeface="Roboto" panose="02000000000000000000" pitchFamily="2" charset="0"/>
            </a:endParaRPr>
          </a:p>
          <a:p>
            <a:r>
              <a:rPr lang="en-US" b="0" i="0" dirty="0">
                <a:solidFill>
                  <a:srgbClr val="3C4043"/>
                </a:solidFill>
                <a:effectLst/>
                <a:latin typeface="Roboto" panose="02000000000000000000" pitchFamily="2" charset="0"/>
              </a:rPr>
              <a:t>OS: Ubuntu 22.04 </a:t>
            </a:r>
          </a:p>
          <a:p>
            <a:r>
              <a:rPr lang="en-US" b="0" i="0" dirty="0">
                <a:solidFill>
                  <a:srgbClr val="3C4043"/>
                </a:solidFill>
                <a:effectLst/>
                <a:latin typeface="Roboto" panose="02000000000000000000" pitchFamily="2" charset="0"/>
              </a:rPr>
              <a:t>CPU: 4 Cores. </a:t>
            </a:r>
          </a:p>
          <a:p>
            <a:r>
              <a:rPr lang="en-US" b="0" i="0" dirty="0">
                <a:solidFill>
                  <a:srgbClr val="3C4043"/>
                </a:solidFill>
                <a:effectLst/>
                <a:latin typeface="Roboto" panose="02000000000000000000" pitchFamily="2" charset="0"/>
              </a:rPr>
              <a:t>RAM: 8GB (Minimum). </a:t>
            </a:r>
          </a:p>
          <a:p>
            <a:r>
              <a:rPr lang="en-US" b="0" i="0" dirty="0">
                <a:solidFill>
                  <a:srgbClr val="3C4043"/>
                </a:solidFill>
                <a:effectLst/>
                <a:latin typeface="Roboto" panose="02000000000000000000" pitchFamily="2" charset="0"/>
              </a:rPr>
              <a:t>Disk: 5</a:t>
            </a:r>
            <a:r>
              <a:rPr lang="en-US" dirty="0">
                <a:solidFill>
                  <a:srgbClr val="3C4043"/>
                </a:solidFill>
                <a:latin typeface="Roboto" panose="02000000000000000000" pitchFamily="2" charset="0"/>
              </a:rPr>
              <a:t>00</a:t>
            </a:r>
            <a:r>
              <a:rPr lang="en-US" b="0" i="0" dirty="0">
                <a:solidFill>
                  <a:srgbClr val="3C4043"/>
                </a:solidFill>
                <a:effectLst/>
                <a:latin typeface="Roboto" panose="02000000000000000000" pitchFamily="2" charset="0"/>
              </a:rPr>
              <a:t>GB  or larger.</a:t>
            </a:r>
            <a:endParaRPr lang="en-US" dirty="0"/>
          </a:p>
        </p:txBody>
      </p:sp>
      <p:pic>
        <p:nvPicPr>
          <p:cNvPr id="13" name="Picture 12">
            <a:extLst>
              <a:ext uri="{FF2B5EF4-FFF2-40B4-BE49-F238E27FC236}">
                <a16:creationId xmlns:a16="http://schemas.microsoft.com/office/drawing/2014/main" id="{19E2F1E3-7050-A32F-1BAC-630AF1C33F21}"/>
              </a:ext>
            </a:extLst>
          </p:cNvPr>
          <p:cNvPicPr>
            <a:picLocks noChangeAspect="1"/>
          </p:cNvPicPr>
          <p:nvPr/>
        </p:nvPicPr>
        <p:blipFill>
          <a:blip r:embed="rId6"/>
          <a:stretch>
            <a:fillRect/>
          </a:stretch>
        </p:blipFill>
        <p:spPr>
          <a:xfrm>
            <a:off x="89086" y="4063052"/>
            <a:ext cx="5428571" cy="33238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B16A-9280-F089-4EFF-D55C66F27365}"/>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A6D44AB3-B370-33EF-91C9-A8A2610E3B9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0460E886-123D-7755-2A34-233B199E5BE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1CDACD2F-0AFD-C913-6566-6A8C9D1CC12C}"/>
              </a:ext>
            </a:extLst>
          </p:cNvPr>
          <p:cNvSpPr/>
          <p:nvPr/>
        </p:nvSpPr>
        <p:spPr>
          <a:xfrm>
            <a:off x="289426" y="174315"/>
            <a:ext cx="2568011" cy="615553"/>
          </a:xfrm>
          <a:prstGeom prst="rect">
            <a:avLst/>
          </a:prstGeom>
        </p:spPr>
        <p:txBody>
          <a:bodyPr wrap="none" lIns="0" tIns="0" rIns="0" bIns="0">
            <a:spAutoFit/>
          </a:bodyPr>
          <a:lstStyle/>
          <a:p>
            <a:pPr marL="0"/>
            <a:r>
              <a:rPr lang="en-US" sz="4000" dirty="0"/>
              <a:t>I. Introduce</a:t>
            </a:r>
            <a:endParaRPr lang="en-US" sz="3863" b="0" i="0" spc="0" baseline="0" dirty="0">
              <a:solidFill>
                <a:srgbClr val="0000FF"/>
              </a:solidFill>
              <a:latin typeface="TimesNewRomanPSMT"/>
            </a:endParaRPr>
          </a:p>
        </p:txBody>
      </p:sp>
      <p:sp>
        <p:nvSpPr>
          <p:cNvPr id="3" name="TextBox 2">
            <a:extLst>
              <a:ext uri="{FF2B5EF4-FFF2-40B4-BE49-F238E27FC236}">
                <a16:creationId xmlns:a16="http://schemas.microsoft.com/office/drawing/2014/main" id="{9D67780F-002C-4ABF-2F1D-30826913527E}"/>
              </a:ext>
            </a:extLst>
          </p:cNvPr>
          <p:cNvSpPr txBox="1"/>
          <p:nvPr/>
        </p:nvSpPr>
        <p:spPr>
          <a:xfrm>
            <a:off x="715039" y="1206368"/>
            <a:ext cx="9592358" cy="5632311"/>
          </a:xfrm>
          <a:prstGeom prst="rect">
            <a:avLst/>
          </a:prstGeom>
          <a:noFill/>
        </p:spPr>
        <p:txBody>
          <a:bodyPr wrap="square">
            <a:spAutoFit/>
          </a:bodyPr>
          <a:lstStyle/>
          <a:p>
            <a:pPr algn="l">
              <a:buNone/>
            </a:pPr>
            <a:r>
              <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-Network security focuses on ensuring the integrity, confidentiality, and availability of computer networks and data by preventing unauthorized access, misuse, or disruption. Continuous network monitoring provides visibility into network activity, enabling organizations to detect issues, optimize performance, and identify potential threats before they escalate into serious incidents.</a:t>
            </a:r>
          </a:p>
          <a:p>
            <a:pPr algn="l">
              <a:buNone/>
            </a:pPr>
            <a:endPar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algn="l">
              <a:buNone/>
            </a:pPr>
            <a:r>
              <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a:t>
            </a:r>
            <a:r>
              <a:rPr lang="en-US" sz="2000"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is an open source SIEM/XDR platform that monitors, detects, and responds to security threats across endpoints, networks, and cloud environments in real time. Zeek, on the other hand, is a Linux-based open source framework for network visibility that analyzes traffic and produces structured logs and artifacts describing observed activity.</a:t>
            </a:r>
          </a:p>
          <a:p>
            <a:pPr algn="l">
              <a:buNone/>
            </a:pPr>
            <a:endPar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algn="l">
              <a:buNone/>
            </a:pPr>
            <a:r>
              <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-By ingesting Zeek logs, </a:t>
            </a:r>
            <a:r>
              <a:rPr lang="en-US" sz="2000"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enriches them with security context and applies correlation, alerting, and automated response actions. Integrating Zeek with </a:t>
            </a:r>
            <a:r>
              <a:rPr lang="en-US" sz="2000"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delivers unified, actionable visibility into network events and strengthens an organization’s ability to detect, investigate, and respond to security threats. </a:t>
            </a:r>
          </a:p>
          <a:p>
            <a:pPr algn="l"/>
            <a:r>
              <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we demonstrate how to integrate Zeek with </a:t>
            </a:r>
            <a:r>
              <a:rPr lang="en-US" sz="2000"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sz="20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for unified network security monitoring.</a:t>
            </a:r>
          </a:p>
        </p:txBody>
      </p:sp>
    </p:spTree>
    <p:extLst>
      <p:ext uri="{BB962C8B-B14F-4D97-AF65-F5344CB8AC3E}">
        <p14:creationId xmlns:p14="http://schemas.microsoft.com/office/powerpoint/2010/main" val="2615999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4EE59-64F4-54BB-F208-B805CF940520}"/>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6AFD5DBC-8642-6CD8-BE1C-DDE0D4B8023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EA5379E5-A107-FFF6-CCF9-D2C2EC7EDA5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114" name="Rectangle 114">
            <a:extLst>
              <a:ext uri="{FF2B5EF4-FFF2-40B4-BE49-F238E27FC236}">
                <a16:creationId xmlns:a16="http://schemas.microsoft.com/office/drawing/2014/main" id="{5AE511F2-DAC2-654D-B4AE-B690CCE57B0E}"/>
              </a:ext>
            </a:extLst>
          </p:cNvPr>
          <p:cNvSpPr/>
          <p:nvPr/>
        </p:nvSpPr>
        <p:spPr>
          <a:xfrm>
            <a:off x="289426" y="174315"/>
            <a:ext cx="4364055" cy="461665"/>
          </a:xfrm>
          <a:prstGeom prst="rect">
            <a:avLst/>
          </a:prstGeom>
        </p:spPr>
        <p:txBody>
          <a:bodyPr wrap="square" lIns="0" tIns="0" rIns="0" bIns="0">
            <a:spAutoFit/>
          </a:bodyPr>
          <a:lstStyle/>
          <a:p>
            <a:pPr algn="l"/>
            <a:r>
              <a:rPr lang="en-US" sz="3000" dirty="0">
                <a:solidFill>
                  <a:schemeClr val="tx1"/>
                </a:solidFill>
                <a:latin typeface="Tahoma" panose="020B0604030504040204" pitchFamily="34" charset="0"/>
                <a:ea typeface="Tahoma" panose="020B0604030504040204" pitchFamily="34" charset="0"/>
                <a:cs typeface="Tahoma" panose="020B0604030504040204" pitchFamily="34" charset="0"/>
              </a:rPr>
              <a:t>I. </a:t>
            </a:r>
            <a:r>
              <a:rPr lang="en-US" sz="3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Zeek log analysis</a:t>
            </a:r>
          </a:p>
        </p:txBody>
      </p:sp>
      <p:sp>
        <p:nvSpPr>
          <p:cNvPr id="9" name="Rectangle 4">
            <a:extLst>
              <a:ext uri="{FF2B5EF4-FFF2-40B4-BE49-F238E27FC236}">
                <a16:creationId xmlns:a16="http://schemas.microsoft.com/office/drawing/2014/main" id="{22010971-96E7-5C24-CDAD-2384E2CAFBD9}"/>
              </a:ext>
            </a:extLst>
          </p:cNvPr>
          <p:cNvSpPr>
            <a:spLocks noChangeArrowheads="1"/>
          </p:cNvSpPr>
          <p:nvPr/>
        </p:nvSpPr>
        <p:spPr bwMode="auto">
          <a:xfrm>
            <a:off x="125944" y="1104158"/>
            <a:ext cx="10440493" cy="3077766"/>
          </a:xfrm>
          <a:prstGeom prst="rect">
            <a:avLst/>
          </a:prstGeom>
          <a:solidFill>
            <a:srgbClr val="E2EE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By default, Zeek outputs logs in a tab-separated values (TSV) format, where each type of log (such as </a:t>
            </a:r>
            <a:r>
              <a:rPr kumimoji="0" lang="en-US" altLang="en-US" sz="20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conn.log</a:t>
            </a: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20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dns.log</a:t>
            </a: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etc.) has its own unique set of fields. These fields are not standardized across all log types. We perform the following to make Zeek logs easier to analyze and integrate with </a:t>
            </a:r>
            <a:r>
              <a:rPr kumimoji="0" lang="en-US" altLang="en-US" sz="2000" b="0" i="0" u="none" strike="noStrike" cap="none" normalizeH="0" baseline="0" dirty="0" err="1">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3" algn="l" rtl="0" eaLnBrk="0" fontAlgn="base" hangingPunct="0">
              <a:spcBef>
                <a:spcPct val="0"/>
              </a:spcBef>
              <a:spcAft>
                <a:spcPct val="0"/>
              </a:spcAft>
            </a:pP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 Parse and normalize: Convert Zeek native log files into JSON.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 Map fields: Translate Zeek-specific field names and values into standard names and values that match your organization’s schema or requirements.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 Enrich as needed: Add timestamps, event types, or other metadata to add context to Zeek events.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2911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 name="Picture 10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graphicFrame>
        <p:nvGraphicFramePr>
          <p:cNvPr id="2" name="Table 1">
            <a:extLst>
              <a:ext uri="{FF2B5EF4-FFF2-40B4-BE49-F238E27FC236}">
                <a16:creationId xmlns:a16="http://schemas.microsoft.com/office/drawing/2014/main" id="{9BEE3265-BE59-FA50-22CC-321D732A26FC}"/>
              </a:ext>
            </a:extLst>
          </p:cNvPr>
          <p:cNvGraphicFramePr>
            <a:graphicFrameLocks noGrp="1"/>
          </p:cNvGraphicFramePr>
          <p:nvPr>
            <p:extLst>
              <p:ext uri="{D42A27DB-BD31-4B8C-83A1-F6EECF244321}">
                <p14:modId xmlns:p14="http://schemas.microsoft.com/office/powerpoint/2010/main" val="4144911186"/>
              </p:ext>
            </p:extLst>
          </p:nvPr>
        </p:nvGraphicFramePr>
        <p:xfrm>
          <a:off x="1173474" y="1974154"/>
          <a:ext cx="7984314" cy="4794250"/>
        </p:xfrm>
        <a:graphic>
          <a:graphicData uri="http://schemas.openxmlformats.org/drawingml/2006/table">
            <a:tbl>
              <a:tblPr/>
              <a:tblGrid>
                <a:gridCol w="2661438">
                  <a:extLst>
                    <a:ext uri="{9D8B030D-6E8A-4147-A177-3AD203B41FA5}">
                      <a16:colId xmlns:a16="http://schemas.microsoft.com/office/drawing/2014/main" val="3872569356"/>
                    </a:ext>
                  </a:extLst>
                </a:gridCol>
                <a:gridCol w="2661438">
                  <a:extLst>
                    <a:ext uri="{9D8B030D-6E8A-4147-A177-3AD203B41FA5}">
                      <a16:colId xmlns:a16="http://schemas.microsoft.com/office/drawing/2014/main" val="780913304"/>
                    </a:ext>
                  </a:extLst>
                </a:gridCol>
                <a:gridCol w="2661438">
                  <a:extLst>
                    <a:ext uri="{9D8B030D-6E8A-4147-A177-3AD203B41FA5}">
                      <a16:colId xmlns:a16="http://schemas.microsoft.com/office/drawing/2014/main" val="1978728188"/>
                    </a:ext>
                  </a:extLst>
                </a:gridCol>
              </a:tblGrid>
              <a:tr h="406785">
                <a:tc>
                  <a:txBody>
                    <a:bodyPr/>
                    <a:lstStyle/>
                    <a:p>
                      <a:r>
                        <a:rPr lang="en-US" sz="1700" b="1">
                          <a:effectLst/>
                        </a:rPr>
                        <a:t>Threat type</a:t>
                      </a:r>
                      <a:endParaRPr lang="en-US" sz="1700">
                        <a:effectLst/>
                      </a:endParaRP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b="1">
                          <a:effectLst/>
                        </a:rPr>
                        <a:t>Zeek log</a:t>
                      </a:r>
                      <a:endParaRPr lang="en-US" sz="1700">
                        <a:effectLst/>
                      </a:endParaRP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b="1">
                          <a:effectLst/>
                        </a:rPr>
                        <a:t>Description</a:t>
                      </a:r>
                      <a:endParaRPr lang="en-US" sz="1700">
                        <a:effectLst/>
                      </a:endParaRP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extLst>
                  <a:ext uri="{0D108BD9-81ED-4DB2-BD59-A6C34878D82A}">
                    <a16:rowId xmlns:a16="http://schemas.microsoft.com/office/drawing/2014/main" val="1226979436"/>
                  </a:ext>
                </a:extLst>
              </a:tr>
              <a:tr h="929794">
                <a:tc>
                  <a:txBody>
                    <a:bodyPr/>
                    <a:lstStyle/>
                    <a:p>
                      <a:r>
                        <a:rPr lang="en-US" sz="1700">
                          <a:effectLst/>
                        </a:rPr>
                        <a:t>Brute-force attack</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dirty="0">
                          <a:effectLst/>
                        </a:rPr>
                        <a:t>conn.log</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a:effectLst/>
                        </a:rPr>
                        <a:t>Detects repeated failed login attempts based on connection patterns.</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extLst>
                  <a:ext uri="{0D108BD9-81ED-4DB2-BD59-A6C34878D82A}">
                    <a16:rowId xmlns:a16="http://schemas.microsoft.com/office/drawing/2014/main" val="782044129"/>
                  </a:ext>
                </a:extLst>
              </a:tr>
              <a:tr h="668289">
                <a:tc>
                  <a:txBody>
                    <a:bodyPr/>
                    <a:lstStyle/>
                    <a:p>
                      <a:r>
                        <a:rPr lang="en-US" sz="1700">
                          <a:effectLst/>
                        </a:rPr>
                        <a:t>Denial-of-service (DoS) attack</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a:effectLst/>
                        </a:rPr>
                        <a:t>conn.log</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a:effectLst/>
                        </a:rPr>
                        <a:t>Identifies flooding traffic from a single source.</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extLst>
                  <a:ext uri="{0D108BD9-81ED-4DB2-BD59-A6C34878D82A}">
                    <a16:rowId xmlns:a16="http://schemas.microsoft.com/office/drawing/2014/main" val="1339055284"/>
                  </a:ext>
                </a:extLst>
              </a:tr>
              <a:tr h="929794">
                <a:tc>
                  <a:txBody>
                    <a:bodyPr/>
                    <a:lstStyle/>
                    <a:p>
                      <a:r>
                        <a:rPr lang="en-US" sz="1700">
                          <a:effectLst/>
                        </a:rPr>
                        <a:t>Reconnaissance scan</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a:effectLst/>
                        </a:rPr>
                        <a:t>conn.log</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a:effectLst/>
                        </a:rPr>
                        <a:t>Tracks port scans and network probes using unusual traffic patterns.</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extLst>
                  <a:ext uri="{0D108BD9-81ED-4DB2-BD59-A6C34878D82A}">
                    <a16:rowId xmlns:a16="http://schemas.microsoft.com/office/drawing/2014/main" val="1650097009"/>
                  </a:ext>
                </a:extLst>
              </a:tr>
              <a:tr h="929794">
                <a:tc>
                  <a:txBody>
                    <a:bodyPr/>
                    <a:lstStyle/>
                    <a:p>
                      <a:r>
                        <a:rPr lang="en-US" sz="1700">
                          <a:effectLst/>
                        </a:rPr>
                        <a:t>DNS query</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a:effectLst/>
                        </a:rPr>
                        <a:t>dns.log</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a:effectLst/>
                        </a:rPr>
                        <a:t>Flag queries to known malicious or suspicious domains.</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extLst>
                  <a:ext uri="{0D108BD9-81ED-4DB2-BD59-A6C34878D82A}">
                    <a16:rowId xmlns:a16="http://schemas.microsoft.com/office/drawing/2014/main" val="1557653847"/>
                  </a:ext>
                </a:extLst>
              </a:tr>
              <a:tr h="929794">
                <a:tc>
                  <a:txBody>
                    <a:bodyPr/>
                    <a:lstStyle/>
                    <a:p>
                      <a:r>
                        <a:rPr lang="en-US" sz="1700">
                          <a:effectLst/>
                        </a:rPr>
                        <a:t>SSL/TLS certificate threats</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a:effectLst/>
                        </a:rPr>
                        <a:t>ssl.log</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tc>
                  <a:txBody>
                    <a:bodyPr/>
                    <a:lstStyle/>
                    <a:p>
                      <a:r>
                        <a:rPr lang="en-US" sz="1700" dirty="0">
                          <a:effectLst/>
                        </a:rPr>
                        <a:t>Flag connections to servers with self-signed or expired certificates.</a:t>
                      </a:r>
                    </a:p>
                  </a:txBody>
                  <a:tcPr marL="136200" marR="136200" marT="72640" marB="72640" anchor="ctr">
                    <a:lnL w="9525" cap="flat" cmpd="sng" algn="ctr">
                      <a:solidFill>
                        <a:srgbClr val="DCE8F8"/>
                      </a:solidFill>
                      <a:prstDash val="solid"/>
                      <a:round/>
                      <a:headEnd type="none" w="med" len="med"/>
                      <a:tailEnd type="none" w="med" len="med"/>
                    </a:lnL>
                    <a:lnR w="9525" cap="flat" cmpd="sng" algn="ctr">
                      <a:solidFill>
                        <a:srgbClr val="DCE8F8"/>
                      </a:solidFill>
                      <a:prstDash val="solid"/>
                      <a:round/>
                      <a:headEnd type="none" w="med" len="med"/>
                      <a:tailEnd type="none" w="med" len="med"/>
                    </a:lnR>
                    <a:lnT w="9525" cap="flat" cmpd="sng" algn="ctr">
                      <a:solidFill>
                        <a:srgbClr val="DCE8F8"/>
                      </a:solidFill>
                      <a:prstDash val="solid"/>
                      <a:round/>
                      <a:headEnd type="none" w="med" len="med"/>
                      <a:tailEnd type="none" w="med" len="med"/>
                    </a:lnT>
                    <a:lnB w="9525" cap="flat" cmpd="sng" algn="ctr">
                      <a:solidFill>
                        <a:srgbClr val="DCE8F8"/>
                      </a:solidFill>
                      <a:prstDash val="solid"/>
                      <a:round/>
                      <a:headEnd type="none" w="med" len="med"/>
                      <a:tailEnd type="none" w="med" len="med"/>
                    </a:lnB>
                    <a:noFill/>
                  </a:tcPr>
                </a:tc>
                <a:extLst>
                  <a:ext uri="{0D108BD9-81ED-4DB2-BD59-A6C34878D82A}">
                    <a16:rowId xmlns:a16="http://schemas.microsoft.com/office/drawing/2014/main" val="387410395"/>
                  </a:ext>
                </a:extLst>
              </a:tr>
            </a:tbl>
          </a:graphicData>
        </a:graphic>
      </p:graphicFrame>
      <p:sp>
        <p:nvSpPr>
          <p:cNvPr id="4" name="Rectangle 1">
            <a:extLst>
              <a:ext uri="{FF2B5EF4-FFF2-40B4-BE49-F238E27FC236}">
                <a16:creationId xmlns:a16="http://schemas.microsoft.com/office/drawing/2014/main" id="{C336AE48-030F-8294-1A91-89924325D610}"/>
              </a:ext>
            </a:extLst>
          </p:cNvPr>
          <p:cNvSpPr>
            <a:spLocks noChangeArrowheads="1"/>
          </p:cNvSpPr>
          <p:nvPr/>
        </p:nvSpPr>
        <p:spPr bwMode="auto">
          <a:xfrm>
            <a:off x="285830" y="777254"/>
            <a:ext cx="10328691" cy="995675"/>
          </a:xfrm>
          <a:prstGeom prst="rect">
            <a:avLst/>
          </a:prstGeom>
          <a:solidFill>
            <a:srgbClr val="E2EE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20593" rIns="0" bIns="125373"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can parse Zeek logs and generate alerts using custom or built-in rules. Sample detection capabilities include:</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You can configure </a:t>
            </a:r>
            <a:r>
              <a:rPr kumimoji="0" lang="en-US" altLang="en-US" sz="1400" b="0" i="0" u="none" strike="noStrike" cap="none" normalizeH="0" baseline="0" dirty="0" err="1">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to generate alerts based on thresholds, frequency, and known indicators of compromise (</a:t>
            </a:r>
            <a:r>
              <a:rPr kumimoji="0" lang="en-US" altLang="en-US" sz="1400" b="0" i="0" u="none" strike="noStrike" cap="none" normalizeH="0" baseline="0" dirty="0" err="1">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IoCs</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by leveraging rules and CDB lists.</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13" name="TextBox 12">
            <a:extLst>
              <a:ext uri="{FF2B5EF4-FFF2-40B4-BE49-F238E27FC236}">
                <a16:creationId xmlns:a16="http://schemas.microsoft.com/office/drawing/2014/main" id="{5D61620B-CAF6-229D-9A27-D16FDB8DA011}"/>
              </a:ext>
            </a:extLst>
          </p:cNvPr>
          <p:cNvSpPr txBox="1"/>
          <p:nvPr/>
        </p:nvSpPr>
        <p:spPr>
          <a:xfrm>
            <a:off x="285830" y="169488"/>
            <a:ext cx="645512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585F9"/>
                </a:solidFill>
                <a:effectLst/>
                <a:latin typeface="Arial" panose="020B0604020202020204" pitchFamily="34" charset="0"/>
                <a:ea typeface="Manrope"/>
              </a:rPr>
              <a:t>Use cases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65E96-7251-735A-8176-3258D1B8F410}"/>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6BF1A8F6-147E-220D-A758-99E02BCF086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35F7D7D5-BDB0-C810-C6A8-BC413A3DC04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3" name="TextBox 2">
            <a:extLst>
              <a:ext uri="{FF2B5EF4-FFF2-40B4-BE49-F238E27FC236}">
                <a16:creationId xmlns:a16="http://schemas.microsoft.com/office/drawing/2014/main" id="{26112AE6-55AA-7138-3260-B43CE5E204FC}"/>
              </a:ext>
            </a:extLst>
          </p:cNvPr>
          <p:cNvSpPr txBox="1"/>
          <p:nvPr/>
        </p:nvSpPr>
        <p:spPr>
          <a:xfrm>
            <a:off x="131275" y="322925"/>
            <a:ext cx="10692383" cy="923330"/>
          </a:xfrm>
          <a:prstGeom prst="rect">
            <a:avLst/>
          </a:prstGeom>
          <a:noFill/>
        </p:spPr>
        <p:txBody>
          <a:bodyPr wrap="square">
            <a:spAutoFit/>
          </a:bodyPr>
          <a:lstStyle/>
          <a:p>
            <a:r>
              <a:rPr lang="en-US" dirty="0"/>
              <a:t>Internet POE -&gt; router -&gt; switch </a:t>
            </a:r>
            <a:r>
              <a:rPr lang="en-US" dirty="0" err="1"/>
              <a:t>unmanagement</a:t>
            </a:r>
            <a:r>
              <a:rPr lang="en-US" dirty="0"/>
              <a:t>-&gt; </a:t>
            </a:r>
            <a:r>
              <a:rPr lang="en-US" dirty="0" err="1"/>
              <a:t>proxmox</a:t>
            </a:r>
            <a:r>
              <a:rPr lang="en-US" dirty="0"/>
              <a:t> (</a:t>
            </a:r>
            <a:r>
              <a:rPr lang="en-US" dirty="0" err="1"/>
              <a:t>Vnet</a:t>
            </a:r>
            <a:r>
              <a:rPr lang="en-US" dirty="0"/>
              <a:t> vmbr0)-&gt;  + Zeek server ubuntu</a:t>
            </a:r>
          </a:p>
          <a:p>
            <a:r>
              <a:rPr lang="en-US" dirty="0"/>
              <a:t>								       + </a:t>
            </a:r>
            <a:r>
              <a:rPr lang="en-US" dirty="0" err="1"/>
              <a:t>Wazuh</a:t>
            </a:r>
            <a:r>
              <a:rPr lang="en-US" dirty="0"/>
              <a:t> server ubuntu</a:t>
            </a:r>
          </a:p>
          <a:p>
            <a:r>
              <a:rPr lang="en-US" dirty="0"/>
              <a:t>								       + </a:t>
            </a:r>
            <a:r>
              <a:rPr lang="en-US" dirty="0" err="1"/>
              <a:t>v.v</a:t>
            </a:r>
            <a:r>
              <a:rPr lang="en-US" dirty="0"/>
              <a:t>		</a:t>
            </a:r>
          </a:p>
        </p:txBody>
      </p:sp>
      <p:sp>
        <p:nvSpPr>
          <p:cNvPr id="6" name="TextBox 5">
            <a:extLst>
              <a:ext uri="{FF2B5EF4-FFF2-40B4-BE49-F238E27FC236}">
                <a16:creationId xmlns:a16="http://schemas.microsoft.com/office/drawing/2014/main" id="{34C944E6-1C8E-7BA5-E683-DF762FE9B3E9}"/>
              </a:ext>
            </a:extLst>
          </p:cNvPr>
          <p:cNvSpPr txBox="1"/>
          <p:nvPr/>
        </p:nvSpPr>
        <p:spPr>
          <a:xfrm>
            <a:off x="667694" y="1644134"/>
            <a:ext cx="5445658" cy="369332"/>
          </a:xfrm>
          <a:prstGeom prst="rect">
            <a:avLst/>
          </a:prstGeom>
          <a:noFill/>
        </p:spPr>
        <p:txBody>
          <a:bodyPr wrap="square">
            <a:spAutoFit/>
          </a:bodyPr>
          <a:lstStyle/>
          <a:p>
            <a:r>
              <a:rPr lang="en-US" dirty="0" err="1"/>
              <a:t>Proxmox</a:t>
            </a:r>
            <a:r>
              <a:rPr lang="en-US" dirty="0"/>
              <a:t> (Virtual Port Mirroring)</a:t>
            </a:r>
          </a:p>
        </p:txBody>
      </p:sp>
      <p:sp>
        <p:nvSpPr>
          <p:cNvPr id="8" name="TextBox 7">
            <a:extLst>
              <a:ext uri="{FF2B5EF4-FFF2-40B4-BE49-F238E27FC236}">
                <a16:creationId xmlns:a16="http://schemas.microsoft.com/office/drawing/2014/main" id="{25A47714-E057-D52B-1967-0689D27A56A9}"/>
              </a:ext>
            </a:extLst>
          </p:cNvPr>
          <p:cNvSpPr txBox="1"/>
          <p:nvPr/>
        </p:nvSpPr>
        <p:spPr>
          <a:xfrm>
            <a:off x="1391971" y="2088179"/>
            <a:ext cx="6620346" cy="646331"/>
          </a:xfrm>
          <a:prstGeom prst="rect">
            <a:avLst/>
          </a:prstGeom>
          <a:noFill/>
        </p:spPr>
        <p:txBody>
          <a:bodyPr wrap="square">
            <a:spAutoFit/>
          </a:bodyPr>
          <a:lstStyle/>
          <a:p>
            <a:r>
              <a:rPr lang="en-US" dirty="0" err="1"/>
              <a:t>ip</a:t>
            </a:r>
            <a:r>
              <a:rPr lang="en-US" dirty="0"/>
              <a:t> link set vmbr0 </a:t>
            </a:r>
            <a:r>
              <a:rPr lang="en-US" dirty="0" err="1"/>
              <a:t>promisc</a:t>
            </a:r>
            <a:r>
              <a:rPr lang="en-US" dirty="0"/>
              <a:t> on</a:t>
            </a:r>
          </a:p>
          <a:p>
            <a:r>
              <a:rPr lang="en-US" dirty="0" err="1"/>
              <a:t>ip</a:t>
            </a:r>
            <a:r>
              <a:rPr lang="en-US" dirty="0"/>
              <a:t> link set tap106i0 </a:t>
            </a:r>
            <a:r>
              <a:rPr lang="en-US" dirty="0" err="1"/>
              <a:t>promisc</a:t>
            </a:r>
            <a:r>
              <a:rPr lang="en-US" dirty="0"/>
              <a:t> on    -&gt;ID 106 Zeek server</a:t>
            </a:r>
          </a:p>
        </p:txBody>
      </p:sp>
      <p:pic>
        <p:nvPicPr>
          <p:cNvPr id="11" name="Picture 10">
            <a:extLst>
              <a:ext uri="{FF2B5EF4-FFF2-40B4-BE49-F238E27FC236}">
                <a16:creationId xmlns:a16="http://schemas.microsoft.com/office/drawing/2014/main" id="{908600BB-FB8E-CC14-7E05-BDEBA75423F7}"/>
              </a:ext>
            </a:extLst>
          </p:cNvPr>
          <p:cNvPicPr>
            <a:picLocks noChangeAspect="1"/>
          </p:cNvPicPr>
          <p:nvPr/>
        </p:nvPicPr>
        <p:blipFill>
          <a:blip r:embed="rId4"/>
          <a:stretch>
            <a:fillRect/>
          </a:stretch>
        </p:blipFill>
        <p:spPr>
          <a:xfrm>
            <a:off x="846189" y="2855390"/>
            <a:ext cx="9095238" cy="4466667"/>
          </a:xfrm>
          <a:prstGeom prst="rect">
            <a:avLst/>
          </a:prstGeom>
        </p:spPr>
      </p:pic>
    </p:spTree>
    <p:extLst>
      <p:ext uri="{BB962C8B-B14F-4D97-AF65-F5344CB8AC3E}">
        <p14:creationId xmlns:p14="http://schemas.microsoft.com/office/powerpoint/2010/main" val="3563636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62392-1C54-2201-D90B-9BEC0AB7FE04}"/>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D6BE9242-E851-0C86-6196-9F761E8CE63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9C6EF9E3-E680-195E-5AC4-E1F551145B1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3" name="TextBox 2">
            <a:extLst>
              <a:ext uri="{FF2B5EF4-FFF2-40B4-BE49-F238E27FC236}">
                <a16:creationId xmlns:a16="http://schemas.microsoft.com/office/drawing/2014/main" id="{0B8F7F89-C685-05A9-36EB-B701B2AB255D}"/>
              </a:ext>
            </a:extLst>
          </p:cNvPr>
          <p:cNvSpPr txBox="1"/>
          <p:nvPr/>
        </p:nvSpPr>
        <p:spPr>
          <a:xfrm>
            <a:off x="131275" y="322925"/>
            <a:ext cx="10692383" cy="923330"/>
          </a:xfrm>
          <a:prstGeom prst="rect">
            <a:avLst/>
          </a:prstGeom>
          <a:noFill/>
        </p:spPr>
        <p:txBody>
          <a:bodyPr wrap="square">
            <a:spAutoFit/>
          </a:bodyPr>
          <a:lstStyle/>
          <a:p>
            <a:r>
              <a:rPr lang="en-US" dirty="0"/>
              <a:t>Internet POE -&gt; router -&gt; switch </a:t>
            </a:r>
            <a:r>
              <a:rPr lang="en-US" dirty="0" err="1"/>
              <a:t>unmanagement</a:t>
            </a:r>
            <a:r>
              <a:rPr lang="en-US" dirty="0"/>
              <a:t>-&gt; </a:t>
            </a:r>
            <a:r>
              <a:rPr lang="en-US" dirty="0" err="1"/>
              <a:t>proxmox</a:t>
            </a:r>
            <a:r>
              <a:rPr lang="en-US" dirty="0"/>
              <a:t> (</a:t>
            </a:r>
            <a:r>
              <a:rPr lang="en-US" dirty="0" err="1"/>
              <a:t>Vnet</a:t>
            </a:r>
            <a:r>
              <a:rPr lang="en-US" dirty="0"/>
              <a:t> vmbr0)-&gt;  + Zeek server ubuntu</a:t>
            </a:r>
          </a:p>
          <a:p>
            <a:r>
              <a:rPr lang="en-US" dirty="0"/>
              <a:t>								       + </a:t>
            </a:r>
            <a:r>
              <a:rPr lang="en-US" dirty="0" err="1"/>
              <a:t>Wazuh</a:t>
            </a:r>
            <a:r>
              <a:rPr lang="en-US" dirty="0"/>
              <a:t> server ubuntu</a:t>
            </a:r>
          </a:p>
          <a:p>
            <a:r>
              <a:rPr lang="en-US" dirty="0"/>
              <a:t>								       + </a:t>
            </a:r>
            <a:r>
              <a:rPr lang="en-US" dirty="0" err="1"/>
              <a:t>v.v</a:t>
            </a:r>
            <a:r>
              <a:rPr lang="en-US" dirty="0"/>
              <a:t>		</a:t>
            </a:r>
          </a:p>
        </p:txBody>
      </p:sp>
      <p:sp>
        <p:nvSpPr>
          <p:cNvPr id="6" name="TextBox 5">
            <a:extLst>
              <a:ext uri="{FF2B5EF4-FFF2-40B4-BE49-F238E27FC236}">
                <a16:creationId xmlns:a16="http://schemas.microsoft.com/office/drawing/2014/main" id="{9BA7F59C-84EC-20F2-5845-5E0CE834971D}"/>
              </a:ext>
            </a:extLst>
          </p:cNvPr>
          <p:cNvSpPr txBox="1"/>
          <p:nvPr/>
        </p:nvSpPr>
        <p:spPr>
          <a:xfrm>
            <a:off x="658640" y="1108801"/>
            <a:ext cx="5445658" cy="369332"/>
          </a:xfrm>
          <a:prstGeom prst="rect">
            <a:avLst/>
          </a:prstGeom>
          <a:noFill/>
        </p:spPr>
        <p:txBody>
          <a:bodyPr wrap="square">
            <a:spAutoFit/>
          </a:bodyPr>
          <a:lstStyle/>
          <a:p>
            <a:r>
              <a:rPr lang="en-US" dirty="0"/>
              <a:t>VM Zeek Ubuntu Config</a:t>
            </a:r>
          </a:p>
        </p:txBody>
      </p:sp>
      <p:sp>
        <p:nvSpPr>
          <p:cNvPr id="8" name="TextBox 7">
            <a:extLst>
              <a:ext uri="{FF2B5EF4-FFF2-40B4-BE49-F238E27FC236}">
                <a16:creationId xmlns:a16="http://schemas.microsoft.com/office/drawing/2014/main" id="{B4D840D4-3109-679A-1071-BEA4AEBE09D8}"/>
              </a:ext>
            </a:extLst>
          </p:cNvPr>
          <p:cNvSpPr txBox="1"/>
          <p:nvPr/>
        </p:nvSpPr>
        <p:spPr>
          <a:xfrm>
            <a:off x="1120367" y="1535207"/>
            <a:ext cx="6620346" cy="369332"/>
          </a:xfrm>
          <a:prstGeom prst="rect">
            <a:avLst/>
          </a:prstGeom>
          <a:noFill/>
        </p:spPr>
        <p:txBody>
          <a:bodyPr wrap="square">
            <a:spAutoFit/>
          </a:bodyPr>
          <a:lstStyle/>
          <a:p>
            <a:r>
              <a:rPr lang="en-US" dirty="0"/>
              <a:t>1. Disable Firewall</a:t>
            </a:r>
          </a:p>
        </p:txBody>
      </p:sp>
      <p:pic>
        <p:nvPicPr>
          <p:cNvPr id="4" name="Picture 3">
            <a:extLst>
              <a:ext uri="{FF2B5EF4-FFF2-40B4-BE49-F238E27FC236}">
                <a16:creationId xmlns:a16="http://schemas.microsoft.com/office/drawing/2014/main" id="{86D49C90-7F0C-B64F-E313-C0800107DE66}"/>
              </a:ext>
            </a:extLst>
          </p:cNvPr>
          <p:cNvPicPr>
            <a:picLocks noChangeAspect="1"/>
          </p:cNvPicPr>
          <p:nvPr/>
        </p:nvPicPr>
        <p:blipFill>
          <a:blip r:embed="rId5"/>
          <a:stretch>
            <a:fillRect/>
          </a:stretch>
        </p:blipFill>
        <p:spPr>
          <a:xfrm>
            <a:off x="0" y="2334836"/>
            <a:ext cx="10693400" cy="2427287"/>
          </a:xfrm>
          <a:prstGeom prst="rect">
            <a:avLst/>
          </a:prstGeom>
        </p:spPr>
      </p:pic>
      <p:sp>
        <p:nvSpPr>
          <p:cNvPr id="5" name="TextBox 4">
            <a:extLst>
              <a:ext uri="{FF2B5EF4-FFF2-40B4-BE49-F238E27FC236}">
                <a16:creationId xmlns:a16="http://schemas.microsoft.com/office/drawing/2014/main" id="{D56FE00A-EFE2-D3FD-5C00-36A7415807C8}"/>
              </a:ext>
            </a:extLst>
          </p:cNvPr>
          <p:cNvSpPr txBox="1"/>
          <p:nvPr/>
        </p:nvSpPr>
        <p:spPr>
          <a:xfrm>
            <a:off x="1281821" y="1851034"/>
            <a:ext cx="6620346" cy="369332"/>
          </a:xfrm>
          <a:prstGeom prst="rect">
            <a:avLst/>
          </a:prstGeom>
          <a:noFill/>
        </p:spPr>
        <p:txBody>
          <a:bodyPr wrap="square">
            <a:spAutoFit/>
          </a:bodyPr>
          <a:lstStyle/>
          <a:p>
            <a:r>
              <a:rPr lang="en-US" dirty="0"/>
              <a:t>Zeek server -&gt; Hardware-&gt; Network device -&gt; uncheck firewall</a:t>
            </a:r>
          </a:p>
        </p:txBody>
      </p:sp>
      <p:sp>
        <p:nvSpPr>
          <p:cNvPr id="9" name="TextBox 8">
            <a:extLst>
              <a:ext uri="{FF2B5EF4-FFF2-40B4-BE49-F238E27FC236}">
                <a16:creationId xmlns:a16="http://schemas.microsoft.com/office/drawing/2014/main" id="{42E866CF-88B9-9FD9-88CE-BFE2856BFF73}"/>
              </a:ext>
            </a:extLst>
          </p:cNvPr>
          <p:cNvSpPr txBox="1"/>
          <p:nvPr/>
        </p:nvSpPr>
        <p:spPr>
          <a:xfrm>
            <a:off x="72051" y="4728151"/>
            <a:ext cx="9039885" cy="2862322"/>
          </a:xfrm>
          <a:prstGeom prst="rect">
            <a:avLst/>
          </a:prstGeom>
          <a:noFill/>
        </p:spPr>
        <p:txBody>
          <a:bodyPr wrap="square">
            <a:spAutoFit/>
          </a:bodyPr>
          <a:lstStyle/>
          <a:p>
            <a:r>
              <a:rPr lang="en-US" dirty="0" err="1"/>
              <a:t>sudo</a:t>
            </a:r>
            <a:r>
              <a:rPr lang="en-US" dirty="0"/>
              <a:t> </a:t>
            </a:r>
            <a:r>
              <a:rPr lang="en-US" dirty="0" err="1"/>
              <a:t>ip</a:t>
            </a:r>
            <a:r>
              <a:rPr lang="en-US" dirty="0"/>
              <a:t> link set ens18 </a:t>
            </a:r>
            <a:r>
              <a:rPr lang="en-US" dirty="0" err="1"/>
              <a:t>promisc</a:t>
            </a:r>
            <a:r>
              <a:rPr lang="en-US" dirty="0"/>
              <a:t> on  -&gt; </a:t>
            </a:r>
            <a:r>
              <a:rPr lang="en-US" dirty="0" err="1"/>
              <a:t>ifconfig</a:t>
            </a:r>
            <a:r>
              <a:rPr lang="en-US" dirty="0"/>
              <a:t> check name: my </a:t>
            </a:r>
            <a:r>
              <a:rPr lang="en-US" dirty="0" err="1"/>
              <a:t>zeek</a:t>
            </a:r>
            <a:r>
              <a:rPr lang="en-US" dirty="0"/>
              <a:t> server ens18</a:t>
            </a:r>
          </a:p>
          <a:p>
            <a:r>
              <a:rPr lang="en-US" dirty="0" err="1"/>
              <a:t>root@zeeksv</a:t>
            </a:r>
            <a:r>
              <a:rPr lang="en-US" dirty="0"/>
              <a:t>:/home/</a:t>
            </a:r>
            <a:r>
              <a:rPr lang="en-US" dirty="0" err="1"/>
              <a:t>zeeksv</a:t>
            </a:r>
            <a:r>
              <a:rPr lang="en-US" dirty="0"/>
              <a:t># </a:t>
            </a:r>
            <a:r>
              <a:rPr lang="en-US" dirty="0" err="1"/>
              <a:t>sudo</a:t>
            </a:r>
            <a:r>
              <a:rPr lang="en-US" dirty="0"/>
              <a:t> </a:t>
            </a:r>
            <a:r>
              <a:rPr lang="en-US" dirty="0" err="1"/>
              <a:t>tcpdump</a:t>
            </a:r>
            <a:r>
              <a:rPr lang="en-US" dirty="0"/>
              <a:t> -</a:t>
            </a:r>
            <a:r>
              <a:rPr lang="en-US" dirty="0" err="1"/>
              <a:t>i</a:t>
            </a:r>
            <a:r>
              <a:rPr lang="en-US" dirty="0"/>
              <a:t> ens18 -n  -&gt; check traffic</a:t>
            </a:r>
          </a:p>
          <a:p>
            <a:r>
              <a:rPr lang="en-US" dirty="0" err="1"/>
              <a:t>tcpdump</a:t>
            </a:r>
            <a:r>
              <a:rPr lang="en-US" dirty="0"/>
              <a:t>: verbose output suppressed, use -v[v]... for full protocol decode</a:t>
            </a:r>
          </a:p>
          <a:p>
            <a:r>
              <a:rPr lang="en-US" dirty="0"/>
              <a:t>listening on ens18, link-type EN10MB (Ethernet), snapshot length 262144 bytes</a:t>
            </a:r>
          </a:p>
          <a:p>
            <a:r>
              <a:rPr lang="en-US" dirty="0"/>
              <a:t>03:47:12.268746 IP 192.168.210.19.22 &gt; 192.168.210.203.63154: Flags [P.], seq 3838245531:3838245739, ack 2623342484, win 501, length 208</a:t>
            </a:r>
          </a:p>
          <a:p>
            <a:r>
              <a:rPr lang="en-US" dirty="0"/>
              <a:t>03:47:12.325328 IP 192.168.210.203.63154 &gt; 192.168.210.19.22: Flags [.], ack 208, win 509, length 0</a:t>
            </a:r>
          </a:p>
          <a:p>
            <a:r>
              <a:rPr lang="en-US" dirty="0"/>
              <a:t>03:47:12.352100 IP 192.168.210.19.22 &gt; 192.168.210.203.63154: Flags [P.], seq 208:512, ack 1, win 501, length 304</a:t>
            </a:r>
          </a:p>
        </p:txBody>
      </p:sp>
    </p:spTree>
    <p:extLst>
      <p:ext uri="{BB962C8B-B14F-4D97-AF65-F5344CB8AC3E}">
        <p14:creationId xmlns:p14="http://schemas.microsoft.com/office/powerpoint/2010/main" val="4107415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6F387-FB7F-E6C0-CEED-1D4B0EEEA372}"/>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8416E75D-32A1-A931-B2B7-76761F7E8C0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B5554A22-628B-CFE9-5466-D6FD71922D2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3" name="TextBox 2">
            <a:extLst>
              <a:ext uri="{FF2B5EF4-FFF2-40B4-BE49-F238E27FC236}">
                <a16:creationId xmlns:a16="http://schemas.microsoft.com/office/drawing/2014/main" id="{7F4ABC1C-119B-7E24-1140-557FB86BCD16}"/>
              </a:ext>
            </a:extLst>
          </p:cNvPr>
          <p:cNvSpPr txBox="1"/>
          <p:nvPr/>
        </p:nvSpPr>
        <p:spPr>
          <a:xfrm>
            <a:off x="131275" y="322925"/>
            <a:ext cx="10692383" cy="923330"/>
          </a:xfrm>
          <a:prstGeom prst="rect">
            <a:avLst/>
          </a:prstGeom>
          <a:noFill/>
        </p:spPr>
        <p:txBody>
          <a:bodyPr wrap="square">
            <a:spAutoFit/>
          </a:bodyPr>
          <a:lstStyle/>
          <a:p>
            <a:r>
              <a:rPr lang="en-US" dirty="0"/>
              <a:t>Internet POE -&gt; router -&gt; switch </a:t>
            </a:r>
            <a:r>
              <a:rPr lang="en-US" dirty="0" err="1"/>
              <a:t>unmanagement</a:t>
            </a:r>
            <a:r>
              <a:rPr lang="en-US" dirty="0"/>
              <a:t>-&gt; </a:t>
            </a:r>
            <a:r>
              <a:rPr lang="en-US" dirty="0" err="1"/>
              <a:t>proxmox</a:t>
            </a:r>
            <a:r>
              <a:rPr lang="en-US" dirty="0"/>
              <a:t> (</a:t>
            </a:r>
            <a:r>
              <a:rPr lang="en-US" dirty="0" err="1"/>
              <a:t>Vnet</a:t>
            </a:r>
            <a:r>
              <a:rPr lang="en-US" dirty="0"/>
              <a:t> vmbr0)-&gt;  + Zeek server ubuntu</a:t>
            </a:r>
          </a:p>
          <a:p>
            <a:r>
              <a:rPr lang="en-US" dirty="0"/>
              <a:t>								       + </a:t>
            </a:r>
            <a:r>
              <a:rPr lang="en-US" dirty="0" err="1"/>
              <a:t>Wazuh</a:t>
            </a:r>
            <a:r>
              <a:rPr lang="en-US" dirty="0"/>
              <a:t> server ubuntu</a:t>
            </a:r>
          </a:p>
          <a:p>
            <a:r>
              <a:rPr lang="en-US" dirty="0"/>
              <a:t>								       + </a:t>
            </a:r>
            <a:r>
              <a:rPr lang="en-US" dirty="0" err="1"/>
              <a:t>v.v</a:t>
            </a:r>
            <a:r>
              <a:rPr lang="en-US" dirty="0"/>
              <a:t>		</a:t>
            </a:r>
          </a:p>
        </p:txBody>
      </p:sp>
      <p:sp>
        <p:nvSpPr>
          <p:cNvPr id="12" name="Rectangle 5">
            <a:extLst>
              <a:ext uri="{FF2B5EF4-FFF2-40B4-BE49-F238E27FC236}">
                <a16:creationId xmlns:a16="http://schemas.microsoft.com/office/drawing/2014/main" id="{35472CC7-10B8-F51F-9241-DEAA1DA5B4F6}"/>
              </a:ext>
            </a:extLst>
          </p:cNvPr>
          <p:cNvSpPr>
            <a:spLocks noChangeArrowheads="1"/>
          </p:cNvSpPr>
          <p:nvPr/>
        </p:nvSpPr>
        <p:spPr bwMode="auto">
          <a:xfrm>
            <a:off x="1004699" y="2147786"/>
            <a:ext cx="868298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Lab Data Flow Diagram Traffic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C4043"/>
                </a:solidFill>
                <a:latin typeface="Tahoma" panose="020B0604030504040204" pitchFamily="34" charset="0"/>
                <a:ea typeface="Tahoma" panose="020B0604030504040204" pitchFamily="34" charset="0"/>
                <a:cs typeface="Tahoma" panose="020B0604030504040204" pitchFamily="34" charset="0"/>
              </a:rPr>
              <a:t>1.</a:t>
            </a: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from the Internet via Router to Unmanaged Switch.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2.Data enters </a:t>
            </a:r>
            <a:r>
              <a:rPr kumimoji="0" lang="en-US" altLang="en-US" sz="2000" b="0" i="0" u="none" strike="noStrike" cap="none" normalizeH="0" baseline="0" dirty="0" err="1">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Proxmox</a:t>
            </a: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 via the physical port connected to vmbr0. vmbr0 (in </a:t>
            </a:r>
            <a:r>
              <a:rPr kumimoji="0" lang="en-US" altLang="en-US" sz="2000" b="0" i="0" u="none" strike="noStrike" cap="none" normalizeH="0" baseline="0" dirty="0" err="1">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Promisc</a:t>
            </a: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 mode) copies the data and sends it to the Zeek virtual machine.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C4043"/>
                </a:solidFill>
                <a:latin typeface="Tahoma" panose="020B0604030504040204" pitchFamily="34" charset="0"/>
                <a:ea typeface="Tahoma" panose="020B0604030504040204" pitchFamily="34" charset="0"/>
                <a:cs typeface="Tahoma" panose="020B0604030504040204" pitchFamily="34" charset="0"/>
              </a:rPr>
              <a:t>3. </a:t>
            </a: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Zeek parses and logs JSON.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3C4043"/>
                </a:solidFill>
                <a:latin typeface="Tahoma" panose="020B0604030504040204" pitchFamily="34" charset="0"/>
                <a:ea typeface="Tahoma" panose="020B0604030504040204" pitchFamily="34" charset="0"/>
                <a:cs typeface="Tahoma" panose="020B0604030504040204" pitchFamily="34" charset="0"/>
              </a:rPr>
              <a:t>4.</a:t>
            </a: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2000" b="0" i="0" u="none" strike="noStrike" cap="none" normalizeH="0" baseline="0" dirty="0" err="1">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Wazuh</a:t>
            </a: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 Agent on the same Zeek machine reads the logs and pushes them to the </a:t>
            </a:r>
            <a:r>
              <a:rPr kumimoji="0" lang="en-US" altLang="en-US" sz="2000" b="0" i="0" u="none" strike="noStrike" cap="none" normalizeH="0" baseline="0" dirty="0" err="1">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Wazuh</a:t>
            </a: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 Server (also located on </a:t>
            </a:r>
            <a:r>
              <a:rPr kumimoji="0" lang="en-US" altLang="en-US" sz="2000" b="0" i="0" u="none" strike="noStrike" cap="none" normalizeH="0" baseline="0" dirty="0" err="1">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Proxmox</a:t>
            </a:r>
            <a:r>
              <a:rPr kumimoji="0" lang="en-US" altLang="en-US" sz="2000" b="0" i="0" u="none" strike="noStrike" cap="none" normalizeH="0" baseline="0" dirty="0">
                <a:ln>
                  <a:noFill/>
                </a:ln>
                <a:solidFill>
                  <a:srgbClr val="3C4043"/>
                </a:solidFill>
                <a:effectLst/>
                <a:latin typeface="Tahoma" panose="020B0604030504040204" pitchFamily="34" charset="0"/>
                <a:ea typeface="Tahoma" panose="020B0604030504040204" pitchFamily="34" charset="0"/>
                <a:cs typeface="Tahoma" panose="020B060403050404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13" name="Rectangle 6">
            <a:extLst>
              <a:ext uri="{FF2B5EF4-FFF2-40B4-BE49-F238E27FC236}">
                <a16:creationId xmlns:a16="http://schemas.microsoft.com/office/drawing/2014/main" id="{BC21BBCF-4887-8A44-E7F7-BBA28B9C3BCA}"/>
              </a:ext>
            </a:extLst>
          </p:cNvPr>
          <p:cNvSpPr>
            <a:spLocks noChangeArrowheads="1"/>
          </p:cNvSpPr>
          <p:nvPr/>
        </p:nvSpPr>
        <p:spPr bwMode="auto">
          <a:xfrm>
            <a:off x="152400" y="152400"/>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700" b="0" i="0" u="none" strike="noStrike" cap="none" normalizeH="0" baseline="0">
                <a:ln>
                  <a:noFill/>
                </a:ln>
                <a:solidFill>
                  <a:schemeClr val="tx1"/>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22602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3CA0-3755-DF38-E49F-5A0DD30D1694}"/>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270325C8-0CC8-E919-541E-0F67C49A1C9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B3BEF384-A5EA-0411-2BDC-935F1DF8814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3" name="TextBox 2">
            <a:extLst>
              <a:ext uri="{FF2B5EF4-FFF2-40B4-BE49-F238E27FC236}">
                <a16:creationId xmlns:a16="http://schemas.microsoft.com/office/drawing/2014/main" id="{56D7EEEB-EE20-FA37-A5B6-30E156D9366E}"/>
              </a:ext>
            </a:extLst>
          </p:cNvPr>
          <p:cNvSpPr txBox="1"/>
          <p:nvPr/>
        </p:nvSpPr>
        <p:spPr>
          <a:xfrm>
            <a:off x="1011468" y="1234273"/>
            <a:ext cx="8404135" cy="3772828"/>
          </a:xfrm>
          <a:prstGeom prst="rect">
            <a:avLst/>
          </a:prstGeom>
          <a:noFill/>
        </p:spPr>
        <p:txBody>
          <a:bodyPr wrap="square">
            <a:spAutoFit/>
          </a:bodyPr>
          <a:lstStyle/>
          <a:p>
            <a:pPr algn="l">
              <a:lnSpc>
                <a:spcPts val="3750"/>
              </a:lnSpc>
              <a:spcBef>
                <a:spcPts val="2625"/>
              </a:spcBef>
              <a:spcAft>
                <a:spcPts val="1500"/>
              </a:spcAft>
              <a:buNone/>
            </a:pPr>
            <a:r>
              <a:rPr lang="en-US" sz="2500" b="1"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Configuration</a:t>
            </a:r>
          </a:p>
          <a:p>
            <a:pPr algn="l">
              <a:buNone/>
            </a:pPr>
            <a:r>
              <a:rPr lang="en-US" sz="25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Perform the steps below to configure this integration.</a:t>
            </a:r>
          </a:p>
          <a:p>
            <a:pPr algn="l">
              <a:spcBef>
                <a:spcPts val="2250"/>
              </a:spcBef>
              <a:spcAft>
                <a:spcPts val="1500"/>
              </a:spcAft>
              <a:buNone/>
            </a:pPr>
            <a:r>
              <a:rPr lang="en-US" sz="2500"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Ubuntu endpoint</a:t>
            </a:r>
          </a:p>
          <a:p>
            <a:pPr algn="l">
              <a:buNone/>
            </a:pPr>
            <a:r>
              <a:rPr lang="en-US" sz="25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Perform the following steps on the Ubuntu endpoint:</a:t>
            </a:r>
          </a:p>
          <a:p>
            <a:pPr algn="l">
              <a:spcAft>
                <a:spcPts val="750"/>
              </a:spcAft>
              <a:buFont typeface="Arial" panose="020B0604020202020204" pitchFamily="34" charset="0"/>
              <a:buChar char="•"/>
            </a:pPr>
            <a:r>
              <a:rPr lang="en-US" sz="25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Install Zeek</a:t>
            </a:r>
          </a:p>
          <a:p>
            <a:pPr algn="l">
              <a:spcAft>
                <a:spcPts val="750"/>
              </a:spcAft>
              <a:buFont typeface="Arial" panose="020B0604020202020204" pitchFamily="34" charset="0"/>
              <a:buChar char="•"/>
            </a:pPr>
            <a:r>
              <a:rPr lang="en-US" sz="25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Configure Zeek</a:t>
            </a:r>
          </a:p>
          <a:p>
            <a:pPr algn="l">
              <a:spcAft>
                <a:spcPts val="750"/>
              </a:spcAft>
              <a:buFont typeface="Arial" panose="020B0604020202020204" pitchFamily="34" charset="0"/>
              <a:buChar char="•"/>
            </a:pPr>
            <a:r>
              <a:rPr lang="en-US" sz="25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Configure log monitoring in the </a:t>
            </a:r>
            <a:r>
              <a:rPr lang="en-US" sz="2500"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sz="25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agent</a:t>
            </a:r>
          </a:p>
        </p:txBody>
      </p:sp>
    </p:spTree>
    <p:extLst>
      <p:ext uri="{BB962C8B-B14F-4D97-AF65-F5344CB8AC3E}">
        <p14:creationId xmlns:p14="http://schemas.microsoft.com/office/powerpoint/2010/main" val="2758341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32C7B-0DF3-B6C0-759A-55586EEA2663}"/>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ED5A1017-4328-969F-B317-D3498097FC6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F5737096-FCD1-3C3F-E5EA-397C13F88BA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2" name="Rectangle 1">
            <a:extLst>
              <a:ext uri="{FF2B5EF4-FFF2-40B4-BE49-F238E27FC236}">
                <a16:creationId xmlns:a16="http://schemas.microsoft.com/office/drawing/2014/main" id="{C5460BBE-6845-1276-BE9E-260356263264}"/>
              </a:ext>
            </a:extLst>
          </p:cNvPr>
          <p:cNvSpPr>
            <a:spLocks noChangeArrowheads="1"/>
          </p:cNvSpPr>
          <p:nvPr/>
        </p:nvSpPr>
        <p:spPr bwMode="auto">
          <a:xfrm>
            <a:off x="81481" y="130712"/>
            <a:ext cx="10801210" cy="6056055"/>
          </a:xfrm>
          <a:prstGeom prst="rect">
            <a:avLst/>
          </a:prstGeom>
          <a:noFill/>
          <a:ln>
            <a:noFill/>
          </a:ln>
        </p:spPr>
        <p:style>
          <a:lnRef idx="0">
            <a:scrgbClr r="0" g="0" b="0"/>
          </a:lnRef>
          <a:fillRef idx="0">
            <a:scrgbClr r="0" g="0" b="0"/>
          </a:fillRef>
          <a:effectRef idx="0">
            <a:scrgbClr r="0" g="0" b="0"/>
          </a:effectRef>
          <a:fontRef idx="minor">
            <a:schemeClr val="accent5"/>
          </a:fontRef>
        </p:style>
        <p:txBody>
          <a:bodyPr vert="horz" wrap="square" lIns="0" tIns="157113" rIns="0" bIns="125373"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3585F9"/>
                </a:solidFill>
                <a:effectLst/>
                <a:latin typeface="Tahoma" panose="020B0604030504040204" pitchFamily="34" charset="0"/>
                <a:ea typeface="Tahoma" panose="020B0604030504040204" pitchFamily="34" charset="0"/>
                <a:cs typeface="Tahoma" panose="020B0604030504040204" pitchFamily="34" charset="0"/>
              </a:rPr>
              <a:t>Install Zeek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585F9"/>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Follow the steps below to install Zeek on the Ubuntu endpoint. </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3585F9"/>
                </a:solidFill>
                <a:effectLst/>
                <a:latin typeface="Tahoma" panose="020B0604030504040204" pitchFamily="34" charset="0"/>
                <a:ea typeface="Tahoma" panose="020B0604030504040204" pitchFamily="34" charset="0"/>
                <a:cs typeface="Tahoma" panose="020B0604030504040204" pitchFamily="34" charset="0"/>
              </a:rPr>
              <a:t>Note</a:t>
            </a:r>
            <a:endPar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You need administrative privileges to execute all the commands described below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1. Run the command below to add the Zeek repository:</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1"/>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echo 'deb http://download.opensuse.org/repositories/security:/zeek/xUbuntu_22.04/ /' |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sudo</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tee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etc</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/apt/</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sources.list.d</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security:zeek.list</a:t>
            </a:r>
            <a:endPar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2. Download and add the GPG key for the Zeek repository:</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1"/>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curl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fsSL</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https://download.opensuse.org/repositories/security:zeek/xUbuntu_22.04/Release.key | \</a:t>
            </a:r>
            <a:endPar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lvl="1"/>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gpg</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dearmor</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sudo</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tee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etc</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/apt/</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trusted.gpg.d</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security_zeek.gpg</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&gt; /dev/null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3. Update the repository index and install Zeek using the following command:</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1"/>
            <a:r>
              <a:rPr lang="en-US" altLang="en-US" sz="1400" dirty="0" err="1">
                <a:solidFill>
                  <a:srgbClr val="000000"/>
                </a:solidFill>
                <a:latin typeface="Tahoma" panose="020B0604030504040204" pitchFamily="34" charset="0"/>
                <a:ea typeface="Tahoma" panose="020B0604030504040204" pitchFamily="34" charset="0"/>
                <a:cs typeface="Tahoma" panose="020B0604030504040204" pitchFamily="34" charset="0"/>
              </a:rPr>
              <a:t>s</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udo</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apt update -y</a:t>
            </a:r>
            <a:endPar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lvl="1"/>
            <a:r>
              <a:rPr lang="en-US" altLang="en-US" sz="1400" dirty="0" err="1">
                <a:solidFill>
                  <a:srgbClr val="000000"/>
                </a:solidFill>
                <a:latin typeface="Tahoma" panose="020B0604030504040204" pitchFamily="34" charset="0"/>
                <a:ea typeface="Tahoma" panose="020B0604030504040204" pitchFamily="34" charset="0"/>
                <a:cs typeface="Tahoma" panose="020B0604030504040204" pitchFamily="34" charset="0"/>
              </a:rPr>
              <a:t>s</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udo</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apt install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4. Add the </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/opt/</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/bin</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directory to the system path through the </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bashrc</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file, then reload the </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bashrc</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file to apply the changes:</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1"/>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echo "export PATH=$PATH:/opt/</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/bin" &gt;&gt;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bashrc</a:t>
            </a:r>
            <a:endPar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lvl="1"/>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source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bashrc</a:t>
            </a:r>
            <a:endPar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5. Verify the installed Zeek version:</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1400" b="0" i="0"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1400" b="0" i="0"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--version</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0F4E9D98-8177-DF15-23DC-6298AECB525B}"/>
              </a:ext>
            </a:extLst>
          </p:cNvPr>
          <p:cNvPicPr>
            <a:picLocks noChangeAspect="1"/>
          </p:cNvPicPr>
          <p:nvPr/>
        </p:nvPicPr>
        <p:blipFill>
          <a:blip r:embed="rId4"/>
          <a:stretch>
            <a:fillRect/>
          </a:stretch>
        </p:blipFill>
        <p:spPr>
          <a:xfrm>
            <a:off x="151307" y="6085616"/>
            <a:ext cx="9152381" cy="1066667"/>
          </a:xfrm>
          <a:prstGeom prst="rect">
            <a:avLst/>
          </a:prstGeom>
        </p:spPr>
      </p:pic>
    </p:spTree>
    <p:extLst>
      <p:ext uri="{BB962C8B-B14F-4D97-AF65-F5344CB8AC3E}">
        <p14:creationId xmlns:p14="http://schemas.microsoft.com/office/powerpoint/2010/main" val="938618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674E5-9E94-FE4A-4DE2-2C2DE1E788EA}"/>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75A7F0D9-85E0-83C1-2261-80E518D10E7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61BA5592-D432-2113-D5CD-F667A04805C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2" name="Rectangle 1">
            <a:extLst>
              <a:ext uri="{FF2B5EF4-FFF2-40B4-BE49-F238E27FC236}">
                <a16:creationId xmlns:a16="http://schemas.microsoft.com/office/drawing/2014/main" id="{04A079D6-D146-7D55-2C2A-362134961B14}"/>
              </a:ext>
            </a:extLst>
          </p:cNvPr>
          <p:cNvSpPr>
            <a:spLocks noChangeArrowheads="1"/>
          </p:cNvSpPr>
          <p:nvPr/>
        </p:nvSpPr>
        <p:spPr bwMode="auto">
          <a:xfrm>
            <a:off x="0" y="61941"/>
            <a:ext cx="10284737" cy="1824127"/>
          </a:xfrm>
          <a:prstGeom prst="rect">
            <a:avLst/>
          </a:prstGeom>
          <a:solidFill>
            <a:srgbClr val="E2EE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7113" rIns="0" bIns="125373"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585F9"/>
                </a:solidFill>
                <a:effectLst/>
                <a:latin typeface="Tahoma" panose="020B0604030504040204" pitchFamily="34" charset="0"/>
                <a:ea typeface="Tahoma" panose="020B0604030504040204" pitchFamily="34" charset="0"/>
                <a:cs typeface="Tahoma" panose="020B0604030504040204" pitchFamily="34" charset="0"/>
              </a:rPr>
              <a:t>Configure Zeek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Follow the steps below to configure Zeek.</a:t>
            </a:r>
            <a:endPar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1. Edit the </a:t>
            </a:r>
            <a:r>
              <a:rPr kumimoji="0" lang="en-US" altLang="en-US" sz="20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/opt/</a:t>
            </a:r>
            <a:r>
              <a:rPr kumimoji="0" lang="en-US" altLang="en-US" sz="20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20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a:t>
            </a:r>
            <a:r>
              <a:rPr kumimoji="0" lang="en-US" altLang="en-US" sz="20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etc</a:t>
            </a:r>
            <a:r>
              <a:rPr kumimoji="0" lang="en-US" altLang="en-US" sz="20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a:t>
            </a:r>
            <a:r>
              <a:rPr kumimoji="0" lang="en-US" altLang="en-US" sz="20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node.cfg</a:t>
            </a: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file and set the packet capture interface. In this lab </a:t>
            </a:r>
            <a:r>
              <a:rPr kumimoji="0" lang="en-US" altLang="en-US" sz="2000" b="0" i="0" u="none" strike="noStrike" cap="none" normalizeH="0" baseline="0" dirty="0" err="1">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proxmox</a:t>
            </a: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 use </a:t>
            </a:r>
            <a:r>
              <a:rPr kumimoji="0" lang="en-US" altLang="en-US" sz="20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e</a:t>
            </a:r>
            <a:r>
              <a:rPr lang="en-US" altLang="en-US" sz="2000" dirty="0">
                <a:solidFill>
                  <a:srgbClr val="7C3DB2"/>
                </a:solidFill>
                <a:latin typeface="Tahoma" panose="020B0604030504040204" pitchFamily="34" charset="0"/>
                <a:ea typeface="Tahoma" panose="020B0604030504040204" pitchFamily="34" charset="0"/>
                <a:cs typeface="Tahoma" panose="020B0604030504040204" pitchFamily="34" charset="0"/>
              </a:rPr>
              <a:t>ns18</a:t>
            </a: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please use </a:t>
            </a:r>
            <a:r>
              <a:rPr kumimoji="0" lang="en-US" altLang="en-US" sz="2000" b="0" i="0" u="none" strike="noStrike" cap="none" normalizeH="0" baseline="0" dirty="0" err="1">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ifconfig</a:t>
            </a:r>
            <a:r>
              <a:rPr kumimoji="0" lang="en-US" altLang="en-US" sz="20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check</a:t>
            </a:r>
            <a:endPar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7" name="Picture 6">
            <a:extLst>
              <a:ext uri="{FF2B5EF4-FFF2-40B4-BE49-F238E27FC236}">
                <a16:creationId xmlns:a16="http://schemas.microsoft.com/office/drawing/2014/main" id="{426A8139-608C-6D84-FB21-996F2E0D8550}"/>
              </a:ext>
            </a:extLst>
          </p:cNvPr>
          <p:cNvPicPr>
            <a:picLocks noChangeAspect="1"/>
          </p:cNvPicPr>
          <p:nvPr/>
        </p:nvPicPr>
        <p:blipFill>
          <a:blip r:embed="rId4"/>
          <a:stretch>
            <a:fillRect/>
          </a:stretch>
        </p:blipFill>
        <p:spPr>
          <a:xfrm>
            <a:off x="0" y="1802941"/>
            <a:ext cx="8704762" cy="2761905"/>
          </a:xfrm>
          <a:prstGeom prst="rect">
            <a:avLst/>
          </a:prstGeom>
        </p:spPr>
      </p:pic>
      <p:sp>
        <p:nvSpPr>
          <p:cNvPr id="8" name="Rectangle 3">
            <a:extLst>
              <a:ext uri="{FF2B5EF4-FFF2-40B4-BE49-F238E27FC236}">
                <a16:creationId xmlns:a16="http://schemas.microsoft.com/office/drawing/2014/main" id="{B5E579F5-D77F-7743-F36B-65698BADDB70}"/>
              </a:ext>
            </a:extLst>
          </p:cNvPr>
          <p:cNvSpPr>
            <a:spLocks noChangeArrowheads="1"/>
          </p:cNvSpPr>
          <p:nvPr/>
        </p:nvSpPr>
        <p:spPr bwMode="auto">
          <a:xfrm>
            <a:off x="64655" y="4883045"/>
            <a:ext cx="7065818" cy="523220"/>
          </a:xfrm>
          <a:prstGeom prst="rect">
            <a:avLst/>
          </a:prstGeom>
          <a:solidFill>
            <a:srgbClr val="E2EE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2. Edit the </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/opt/</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etc</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networks.cfg</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file and add your network subnet. </a:t>
            </a:r>
            <a:r>
              <a:rPr lang="en-US" altLang="en-US" sz="1400" dirty="0">
                <a:solidFill>
                  <a:srgbClr val="292929"/>
                </a:solidFill>
                <a:latin typeface="Tahoma" panose="020B0604030504040204" pitchFamily="34" charset="0"/>
                <a:ea typeface="Tahoma" panose="020B0604030504040204" pitchFamily="34" charset="0"/>
                <a:cs typeface="Tahoma" panose="020B0604030504040204" pitchFamily="34" charset="0"/>
              </a:rPr>
              <a:t>Add </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with your network subnet. The content of the file will look similar to this:</a:t>
            </a:r>
            <a:r>
              <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p>
        </p:txBody>
      </p:sp>
      <p:pic>
        <p:nvPicPr>
          <p:cNvPr id="11" name="Picture 10">
            <a:extLst>
              <a:ext uri="{FF2B5EF4-FFF2-40B4-BE49-F238E27FC236}">
                <a16:creationId xmlns:a16="http://schemas.microsoft.com/office/drawing/2014/main" id="{E236AB36-ACDB-9D85-DF42-8D31C3B5D7E8}"/>
              </a:ext>
            </a:extLst>
          </p:cNvPr>
          <p:cNvPicPr>
            <a:picLocks noChangeAspect="1"/>
          </p:cNvPicPr>
          <p:nvPr/>
        </p:nvPicPr>
        <p:blipFill>
          <a:blip r:embed="rId5"/>
          <a:stretch>
            <a:fillRect/>
          </a:stretch>
        </p:blipFill>
        <p:spPr>
          <a:xfrm>
            <a:off x="64655" y="5477705"/>
            <a:ext cx="8704762" cy="2102608"/>
          </a:xfrm>
          <a:prstGeom prst="rect">
            <a:avLst/>
          </a:prstGeom>
        </p:spPr>
      </p:pic>
    </p:spTree>
    <p:extLst>
      <p:ext uri="{BB962C8B-B14F-4D97-AF65-F5344CB8AC3E}">
        <p14:creationId xmlns:p14="http://schemas.microsoft.com/office/powerpoint/2010/main" val="4182066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A4AE6-6BA1-9339-A3E0-646D47128878}"/>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9BF9ECD9-247E-4407-CA2F-D83CB3895A1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449EC021-8821-233A-BE8B-4BDF2B01FB9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2" name="Rectangle 1">
            <a:extLst>
              <a:ext uri="{FF2B5EF4-FFF2-40B4-BE49-F238E27FC236}">
                <a16:creationId xmlns:a16="http://schemas.microsoft.com/office/drawing/2014/main" id="{A06CF7C3-645F-AD34-6085-CB96A0494313}"/>
              </a:ext>
            </a:extLst>
          </p:cNvPr>
          <p:cNvSpPr>
            <a:spLocks noChangeArrowheads="1"/>
          </p:cNvSpPr>
          <p:nvPr/>
        </p:nvSpPr>
        <p:spPr bwMode="auto">
          <a:xfrm>
            <a:off x="0" y="0"/>
            <a:ext cx="10692383" cy="900798"/>
          </a:xfrm>
          <a:prstGeom prst="rect">
            <a:avLst/>
          </a:prstGeom>
          <a:solidFill>
            <a:srgbClr val="E2EE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7113" rIns="0" bIns="125373"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585F9"/>
                </a:solidFill>
                <a:effectLst/>
                <a:latin typeface="Tahoma" panose="020B0604030504040204" pitchFamily="34" charset="0"/>
                <a:ea typeface="Tahoma" panose="020B0604030504040204" pitchFamily="34" charset="0"/>
                <a:cs typeface="Tahoma" panose="020B0604030504040204" pitchFamily="34" charset="0"/>
              </a:rPr>
              <a:t>Configure Zeek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742413D5-FD0A-A273-8EE4-35E2D62DC9EA}"/>
              </a:ext>
            </a:extLst>
          </p:cNvPr>
          <p:cNvSpPr txBox="1"/>
          <p:nvPr/>
        </p:nvSpPr>
        <p:spPr>
          <a:xfrm>
            <a:off x="262462" y="900798"/>
            <a:ext cx="7711289" cy="3060068"/>
          </a:xfrm>
          <a:prstGeom prst="rect">
            <a:avLst/>
          </a:prstGeom>
          <a:noFill/>
        </p:spPr>
        <p:txBody>
          <a:bodyPr wrap="square">
            <a:spAutoFit/>
          </a:bodyPr>
          <a:lstStyle/>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3. Run the following command to verify your Zeek syntax:</a:t>
            </a:r>
          </a:p>
          <a:p>
            <a:pPr algn="l">
              <a:buNone/>
            </a:pPr>
            <a:endPar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algn="l" rtl="0">
              <a:lnSpc>
                <a:spcPts val="1500"/>
              </a:lnSpc>
              <a:spcAft>
                <a:spcPts val="1500"/>
              </a:spcAft>
              <a:buNone/>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i="0" dirty="0" err="1">
                <a:solidFill>
                  <a:srgbClr val="000000"/>
                </a:solidFill>
                <a:latin typeface="Tahoma" panose="020B0604030504040204" pitchFamily="34" charset="0"/>
                <a:ea typeface="Tahoma" panose="020B0604030504040204" pitchFamily="34" charset="0"/>
                <a:cs typeface="Tahoma" panose="020B0604030504040204" pitchFamily="34" charset="0"/>
              </a:rPr>
              <a:t>zeekctl</a:t>
            </a:r>
            <a:r>
              <a:rPr lang="en-US" i="0" dirty="0">
                <a:solidFill>
                  <a:srgbClr val="000000"/>
                </a:solidFill>
                <a:latin typeface="Tahoma" panose="020B0604030504040204" pitchFamily="34" charset="0"/>
                <a:ea typeface="Tahoma" panose="020B0604030504040204" pitchFamily="34" charset="0"/>
                <a:cs typeface="Tahoma" panose="020B0604030504040204" pitchFamily="34" charset="0"/>
              </a:rPr>
              <a:t> check</a:t>
            </a:r>
            <a:endParaRPr lang="en-US" i="0" dirty="0">
              <a:solidFill>
                <a:srgbClr val="AAAAAA"/>
              </a:solidFill>
              <a:latin typeface="Tahoma" panose="020B0604030504040204" pitchFamily="34" charset="0"/>
              <a:ea typeface="Tahoma" panose="020B0604030504040204" pitchFamily="34" charset="0"/>
              <a:cs typeface="Tahoma" panose="020B0604030504040204" pitchFamily="34" charset="0"/>
            </a:endParaRPr>
          </a:p>
          <a:p>
            <a:pPr lvl="2" algn="l" rtl="0">
              <a:lnSpc>
                <a:spcPts val="2400"/>
              </a:lnSpc>
              <a:spcAft>
                <a:spcPts val="1500"/>
              </a:spcAft>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Output</a:t>
            </a:r>
          </a:p>
          <a:p>
            <a:pPr lvl="2" algn="l" rtl="0">
              <a:lnSpc>
                <a:spcPts val="1500"/>
              </a:lnSpc>
              <a:spcAft>
                <a:spcPts val="1500"/>
              </a:spcAft>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Hint: Run the </a:t>
            </a:r>
            <a:r>
              <a:rPr lang="en-US" b="0" i="0"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zeekctl</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"deploy" command to get started.</a:t>
            </a:r>
            <a:endParaRPr lang="en-US" b="0" i="0" dirty="0">
              <a:solidFill>
                <a:srgbClr val="AAAAAA"/>
              </a:solidFill>
              <a:effectLst/>
              <a:latin typeface="Tahoma" panose="020B0604030504040204" pitchFamily="34" charset="0"/>
              <a:ea typeface="Tahoma" panose="020B0604030504040204" pitchFamily="34" charset="0"/>
              <a:cs typeface="Tahoma" panose="020B0604030504040204" pitchFamily="34" charset="0"/>
            </a:endParaRPr>
          </a:p>
          <a:p>
            <a:pPr lvl="2" algn="l" rtl="0">
              <a:lnSpc>
                <a:spcPts val="1500"/>
              </a:lnSpc>
              <a:spcAft>
                <a:spcPts val="1500"/>
              </a:spcAft>
            </a:pPr>
            <a:r>
              <a:rPr lang="en-US" b="0" i="0"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zeek</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scripts are ok.</a:t>
            </a:r>
            <a:endParaRPr lang="en-US" b="0" i="0" dirty="0">
              <a:solidFill>
                <a:srgbClr val="AAAAAA"/>
              </a:solidFill>
              <a:effectLst/>
              <a:latin typeface="Tahoma" panose="020B0604030504040204" pitchFamily="34" charset="0"/>
              <a:ea typeface="Tahoma" panose="020B0604030504040204" pitchFamily="34" charset="0"/>
              <a:cs typeface="Tahoma" panose="020B0604030504040204" pitchFamily="34" charset="0"/>
            </a:endParaRPr>
          </a:p>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4. Start Zeek:</a:t>
            </a:r>
          </a:p>
          <a:p>
            <a:pPr algn="l">
              <a:buNone/>
            </a:pPr>
            <a:endPar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algn="l" rtl="0">
              <a:lnSpc>
                <a:spcPts val="1500"/>
              </a:lnSpc>
              <a:spcAft>
                <a:spcPts val="1500"/>
              </a:spcAft>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b="0" i="0"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zeekctl</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deploy</a:t>
            </a:r>
            <a:endParaRPr lang="en-US" b="0" i="0" dirty="0">
              <a:solidFill>
                <a:srgbClr val="AAAAAA"/>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4C33041-FD45-4E70-0E3F-C1D4F8F55182}"/>
              </a:ext>
            </a:extLst>
          </p:cNvPr>
          <p:cNvPicPr>
            <a:picLocks noChangeAspect="1"/>
          </p:cNvPicPr>
          <p:nvPr/>
        </p:nvPicPr>
        <p:blipFill>
          <a:blip r:embed="rId5"/>
          <a:stretch>
            <a:fillRect/>
          </a:stretch>
        </p:blipFill>
        <p:spPr>
          <a:xfrm>
            <a:off x="2981007" y="2866744"/>
            <a:ext cx="5771429" cy="2723809"/>
          </a:xfrm>
          <a:prstGeom prst="rect">
            <a:avLst/>
          </a:prstGeom>
        </p:spPr>
      </p:pic>
      <p:sp>
        <p:nvSpPr>
          <p:cNvPr id="9" name="Rectangle 1">
            <a:extLst>
              <a:ext uri="{FF2B5EF4-FFF2-40B4-BE49-F238E27FC236}">
                <a16:creationId xmlns:a16="http://schemas.microsoft.com/office/drawing/2014/main" id="{CAE006DA-01A9-30E7-5294-94B88211CB90}"/>
              </a:ext>
            </a:extLst>
          </p:cNvPr>
          <p:cNvSpPr>
            <a:spLocks noChangeArrowheads="1"/>
          </p:cNvSpPr>
          <p:nvPr/>
        </p:nvSpPr>
        <p:spPr bwMode="auto">
          <a:xfrm>
            <a:off x="75653" y="5784690"/>
            <a:ext cx="10541076" cy="954107"/>
          </a:xfrm>
          <a:prstGeom prst="rect">
            <a:avLst/>
          </a:prstGeom>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5. Enable JSON log output. Zeek logs are stored in TSV format by default. Add the following line to the </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/opt/</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/share/</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/site/</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local.zeek</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file to generate logs in JSON:</a:t>
            </a:r>
            <a:r>
              <a:rPr lang="en-US" altLang="en-US" sz="1400" dirty="0">
                <a:latin typeface="Tahoma" panose="020B0604030504040204" pitchFamily="34" charset="0"/>
                <a:ea typeface="Tahoma" panose="020B0604030504040204" pitchFamily="34" charset="0"/>
                <a:cs typeface="Tahoma" panose="020B0604030504040204" pitchFamily="34" charset="0"/>
              </a:rPr>
              <a:t> </a:t>
            </a:r>
            <a:r>
              <a:rPr kumimoji="0" lang="en-US" altLang="en-US" sz="1400" b="0" i="1"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@load policy/tuning/</a:t>
            </a:r>
            <a:r>
              <a:rPr kumimoji="0" lang="en-US" altLang="en-US" sz="1400" b="0" i="1"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json-logs.zeek</a:t>
            </a:r>
            <a:endParaRPr kumimoji="0" lang="en-US" altLang="en-US" sz="1400" b="0" i="1"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6. Restart Zeek to apply the changes:</a:t>
            </a:r>
            <a:r>
              <a:rPr lang="en-US" altLang="en-US" sz="1400" dirty="0">
                <a:latin typeface="Tahoma" panose="020B0604030504040204" pitchFamily="34" charset="0"/>
                <a:ea typeface="Tahoma" panose="020B0604030504040204" pitchFamily="34" charset="0"/>
                <a:cs typeface="Tahoma" panose="020B0604030504040204" pitchFamily="34" charset="0"/>
              </a:rPr>
              <a:t> </a:t>
            </a:r>
            <a:r>
              <a:rPr kumimoji="0" lang="en-US" altLang="en-US" sz="1400" b="0" i="1" u="none" strike="noStrike" cap="none" normalizeH="0" baseline="0" dirty="0" err="1">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zeekctl</a:t>
            </a:r>
            <a:r>
              <a:rPr kumimoji="0" lang="en-US" altLang="en-US" sz="1400" b="0" i="1" u="none" strike="noStrike" cap="none" normalizeH="0" baseline="0" dirty="0">
                <a:ln>
                  <a:noFill/>
                </a:ln>
                <a:solidFill>
                  <a:srgbClr val="000000"/>
                </a:solidFill>
                <a:effectLst/>
                <a:latin typeface="Tahoma" panose="020B0604030504040204" pitchFamily="34" charset="0"/>
                <a:ea typeface="Tahoma" panose="020B0604030504040204" pitchFamily="34" charset="0"/>
                <a:cs typeface="Tahoma" panose="020B0604030504040204" pitchFamily="34" charset="0"/>
              </a:rPr>
              <a:t> deploy</a:t>
            </a:r>
            <a:endParaRPr kumimoji="0" lang="en-US" altLang="en-US" sz="1400" b="0" i="1"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Zeek logs such as </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conn.log</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and </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dns.log</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will now be generated in JSON format in the </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/opt/</a:t>
            </a:r>
            <a:r>
              <a:rPr kumimoji="0" lang="en-US" altLang="en-US" sz="1400" b="0" i="0" u="none" strike="noStrike" cap="none" normalizeH="0" baseline="0" dirty="0" err="1">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zeek</a:t>
            </a:r>
            <a:r>
              <a:rPr kumimoji="0" lang="en-US" altLang="en-US" sz="14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/logs/current</a:t>
            </a:r>
            <a:r>
              <a:rPr kumimoji="0" lang="en-US" altLang="en-US" sz="14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directory. </a:t>
            </a:r>
            <a:endParaRPr kumimoji="0" lang="en-US" altLang="en-US" sz="1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30E47B3B-48CB-FC18-9DCA-23971FBD923C}"/>
              </a:ext>
            </a:extLst>
          </p:cNvPr>
          <p:cNvPicPr>
            <a:picLocks noChangeAspect="1"/>
          </p:cNvPicPr>
          <p:nvPr/>
        </p:nvPicPr>
        <p:blipFill>
          <a:blip r:embed="rId6"/>
          <a:stretch>
            <a:fillRect/>
          </a:stretch>
        </p:blipFill>
        <p:spPr>
          <a:xfrm>
            <a:off x="75653" y="6724015"/>
            <a:ext cx="9303737" cy="809524"/>
          </a:xfrm>
          <a:prstGeom prst="rect">
            <a:avLst/>
          </a:prstGeom>
        </p:spPr>
      </p:pic>
    </p:spTree>
    <p:extLst>
      <p:ext uri="{BB962C8B-B14F-4D97-AF65-F5344CB8AC3E}">
        <p14:creationId xmlns:p14="http://schemas.microsoft.com/office/powerpoint/2010/main" val="3896697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05CB2-6FC6-3A62-2ADB-7C3121786C25}"/>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0F845143-3CBF-E4D8-2CD7-159E9F4913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BE0DBE98-A388-B4D2-6065-45FF7E63810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4" name="TextBox 3">
            <a:extLst>
              <a:ext uri="{FF2B5EF4-FFF2-40B4-BE49-F238E27FC236}">
                <a16:creationId xmlns:a16="http://schemas.microsoft.com/office/drawing/2014/main" id="{CCD396DF-C17F-DF52-3576-60001D717741}"/>
              </a:ext>
            </a:extLst>
          </p:cNvPr>
          <p:cNvSpPr txBox="1"/>
          <p:nvPr/>
        </p:nvSpPr>
        <p:spPr>
          <a:xfrm>
            <a:off x="262462" y="900798"/>
            <a:ext cx="8718576" cy="923330"/>
          </a:xfrm>
          <a:prstGeom prst="rect">
            <a:avLst/>
          </a:prstGeom>
          <a:noFill/>
        </p:spPr>
        <p:txBody>
          <a:bodyPr wrap="square">
            <a:spAutoFit/>
          </a:bodyPr>
          <a:lstStyle/>
          <a:p>
            <a:pPr algn="l"/>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1. Modify the /var/</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ossec</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etc</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ossec.conf</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file and append a </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localfile</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entry for all Zeek JSON logs at the end of the file:</a:t>
            </a:r>
          </a:p>
          <a:p>
            <a:pPr algn="l">
              <a:buNone/>
            </a:pPr>
            <a:endParaRPr lang="en-US" b="0" i="0" dirty="0">
              <a:solidFill>
                <a:srgbClr val="AAAAAA"/>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11" name="Picture 10">
            <a:extLst>
              <a:ext uri="{FF2B5EF4-FFF2-40B4-BE49-F238E27FC236}">
                <a16:creationId xmlns:a16="http://schemas.microsoft.com/office/drawing/2014/main" id="{ED22D808-FE02-A5C6-24CC-108B39B35ADB}"/>
              </a:ext>
            </a:extLst>
          </p:cNvPr>
          <p:cNvPicPr>
            <a:picLocks noChangeAspect="1"/>
          </p:cNvPicPr>
          <p:nvPr/>
        </p:nvPicPr>
        <p:blipFill>
          <a:blip r:embed="rId5"/>
          <a:stretch>
            <a:fillRect/>
          </a:stretch>
        </p:blipFill>
        <p:spPr>
          <a:xfrm>
            <a:off x="542002" y="1654325"/>
            <a:ext cx="6857143" cy="1380952"/>
          </a:xfrm>
          <a:prstGeom prst="rect">
            <a:avLst/>
          </a:prstGeom>
        </p:spPr>
      </p:pic>
      <p:sp>
        <p:nvSpPr>
          <p:cNvPr id="14" name="TextBox 13">
            <a:extLst>
              <a:ext uri="{FF2B5EF4-FFF2-40B4-BE49-F238E27FC236}">
                <a16:creationId xmlns:a16="http://schemas.microsoft.com/office/drawing/2014/main" id="{B44BFC50-783C-0997-E9F3-D1181D787515}"/>
              </a:ext>
            </a:extLst>
          </p:cNvPr>
          <p:cNvSpPr txBox="1"/>
          <p:nvPr/>
        </p:nvSpPr>
        <p:spPr>
          <a:xfrm>
            <a:off x="142592" y="237889"/>
            <a:ext cx="5409444" cy="369332"/>
          </a:xfrm>
          <a:prstGeom prst="rect">
            <a:avLst/>
          </a:prstGeom>
          <a:noFill/>
        </p:spPr>
        <p:txBody>
          <a:bodyPr wrap="square">
            <a:spAutoFit/>
          </a:bodyPr>
          <a:lstStyle/>
          <a:p>
            <a:pPr algn="l">
              <a:spcBef>
                <a:spcPts val="1875"/>
              </a:spcBef>
              <a:spcAft>
                <a:spcPts val="1500"/>
              </a:spcAft>
              <a:buNone/>
            </a:pP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Configure log monitoring in the </a:t>
            </a:r>
            <a:r>
              <a:rPr lang="en-US" b="0" i="0" dirty="0" err="1">
                <a:solidFill>
                  <a:srgbClr val="3585F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 agent</a:t>
            </a:r>
          </a:p>
        </p:txBody>
      </p:sp>
      <p:sp>
        <p:nvSpPr>
          <p:cNvPr id="16" name="TextBox 15">
            <a:extLst>
              <a:ext uri="{FF2B5EF4-FFF2-40B4-BE49-F238E27FC236}">
                <a16:creationId xmlns:a16="http://schemas.microsoft.com/office/drawing/2014/main" id="{44F81FB7-6B60-4F71-2446-9C5BC7C57739}"/>
              </a:ext>
            </a:extLst>
          </p:cNvPr>
          <p:cNvSpPr txBox="1"/>
          <p:nvPr/>
        </p:nvSpPr>
        <p:spPr>
          <a:xfrm>
            <a:off x="432304" y="3132126"/>
            <a:ext cx="7417050" cy="851772"/>
          </a:xfrm>
          <a:prstGeom prst="rect">
            <a:avLst/>
          </a:prstGeom>
          <a:noFill/>
        </p:spPr>
        <p:txBody>
          <a:bodyPr wrap="square">
            <a:spAutoFit/>
          </a:bodyPr>
          <a:lstStyle/>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2. Restart the </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agent to apply the configuration changes:</a:t>
            </a:r>
          </a:p>
          <a:p>
            <a:pPr algn="l">
              <a:buNone/>
            </a:pPr>
            <a:endPar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algn="l" rtl="0">
              <a:lnSpc>
                <a:spcPts val="1500"/>
              </a:lnSpc>
              <a:spcAft>
                <a:spcPts val="1500"/>
              </a:spcAft>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b="0" i="0"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systemctl</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restart </a:t>
            </a:r>
            <a:r>
              <a:rPr lang="en-US" b="0" i="0"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-agent</a:t>
            </a:r>
            <a:endParaRPr lang="en-US" b="0" i="0" dirty="0">
              <a:solidFill>
                <a:srgbClr val="AAAAAA"/>
              </a:solidFill>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91186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A79B4-947A-0EEE-AB1B-B6D688AD5744}"/>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443B780B-3953-9919-7370-8B1A4C14791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A2B23E6F-C8A5-5867-69B9-9A5FC7A4429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pic>
        <p:nvPicPr>
          <p:cNvPr id="3" name="Picture 2">
            <a:extLst>
              <a:ext uri="{FF2B5EF4-FFF2-40B4-BE49-F238E27FC236}">
                <a16:creationId xmlns:a16="http://schemas.microsoft.com/office/drawing/2014/main" id="{D03458E6-67D9-3029-1F61-7F6321BF9C56}"/>
              </a:ext>
            </a:extLst>
          </p:cNvPr>
          <p:cNvPicPr>
            <a:picLocks noChangeAspect="1"/>
          </p:cNvPicPr>
          <p:nvPr/>
        </p:nvPicPr>
        <p:blipFill>
          <a:blip r:embed="rId5"/>
          <a:stretch>
            <a:fillRect/>
          </a:stretch>
        </p:blipFill>
        <p:spPr>
          <a:xfrm>
            <a:off x="6330478" y="510910"/>
            <a:ext cx="4361905" cy="2797211"/>
          </a:xfrm>
          <a:prstGeom prst="rect">
            <a:avLst/>
          </a:prstGeom>
        </p:spPr>
      </p:pic>
      <p:sp>
        <p:nvSpPr>
          <p:cNvPr id="6" name="TextBox 5">
            <a:extLst>
              <a:ext uri="{FF2B5EF4-FFF2-40B4-BE49-F238E27FC236}">
                <a16:creationId xmlns:a16="http://schemas.microsoft.com/office/drawing/2014/main" id="{C521142F-9A54-99BF-FD91-0047E0E28C12}"/>
              </a:ext>
            </a:extLst>
          </p:cNvPr>
          <p:cNvSpPr txBox="1"/>
          <p:nvPr/>
        </p:nvSpPr>
        <p:spPr>
          <a:xfrm>
            <a:off x="359875" y="196750"/>
            <a:ext cx="6294422" cy="1359346"/>
          </a:xfrm>
          <a:prstGeom prst="rect">
            <a:avLst/>
          </a:prstGeom>
          <a:noFill/>
        </p:spPr>
        <p:txBody>
          <a:bodyPr wrap="square">
            <a:spAutoFit/>
          </a:bodyPr>
          <a:lstStyle/>
          <a:p>
            <a:pPr algn="l">
              <a:spcBef>
                <a:spcPts val="1875"/>
              </a:spcBef>
              <a:spcAft>
                <a:spcPts val="1500"/>
              </a:spcAft>
              <a:buNone/>
            </a:pPr>
            <a:r>
              <a:rPr lang="en-US" b="0" i="0" dirty="0" err="1">
                <a:solidFill>
                  <a:srgbClr val="3585F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 dashboard</a:t>
            </a:r>
          </a:p>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Perform the following steps on the </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dashboard.</a:t>
            </a:r>
          </a:p>
          <a:p>
            <a:pPr algn="l">
              <a:spcBef>
                <a:spcPts val="1875"/>
              </a:spcBef>
              <a:spcAft>
                <a:spcPts val="1500"/>
              </a:spcAft>
            </a:pP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Create custom decoders and rules</a:t>
            </a:r>
          </a:p>
        </p:txBody>
      </p:sp>
      <p:sp>
        <p:nvSpPr>
          <p:cNvPr id="8" name="TextBox 7">
            <a:extLst>
              <a:ext uri="{FF2B5EF4-FFF2-40B4-BE49-F238E27FC236}">
                <a16:creationId xmlns:a16="http://schemas.microsoft.com/office/drawing/2014/main" id="{9A6712B7-B500-22F7-4D73-509B9EB93A03}"/>
              </a:ext>
            </a:extLst>
          </p:cNvPr>
          <p:cNvSpPr txBox="1"/>
          <p:nvPr/>
        </p:nvSpPr>
        <p:spPr>
          <a:xfrm>
            <a:off x="640533" y="1830793"/>
            <a:ext cx="5409444" cy="1169551"/>
          </a:xfrm>
          <a:prstGeom prst="rect">
            <a:avLst/>
          </a:prstGeom>
          <a:noFill/>
        </p:spPr>
        <p:txBody>
          <a:bodyPr wrap="square">
            <a:spAutoFit/>
          </a:bodyPr>
          <a:lstStyle/>
          <a:p>
            <a:pPr algn="l">
              <a:buNone/>
            </a:pPr>
            <a:r>
              <a:rPr lang="en-US" sz="14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Perform the steps below to create and configure custom decoders and rules for processing and monitoring logs generated from Zeek.</a:t>
            </a:r>
          </a:p>
          <a:p>
            <a:pPr algn="l">
              <a:buNone/>
            </a:pPr>
            <a:r>
              <a:rPr lang="en-US" sz="14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1. Navigate to </a:t>
            </a:r>
            <a:r>
              <a:rPr lang="en-US" sz="1400" b="1"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Server management</a:t>
            </a:r>
            <a:r>
              <a:rPr lang="en-US" sz="14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&gt; </a:t>
            </a:r>
            <a:r>
              <a:rPr lang="en-US" sz="1400" b="1"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Decoders</a:t>
            </a:r>
            <a:r>
              <a:rPr lang="en-US" sz="14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a:t>
            </a:r>
          </a:p>
          <a:p>
            <a:pPr algn="l"/>
            <a:r>
              <a:rPr lang="en-US" sz="14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2. Click </a:t>
            </a:r>
            <a:r>
              <a:rPr lang="en-US" sz="1400" b="1"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Add new decoders file</a:t>
            </a:r>
            <a:r>
              <a:rPr lang="en-US" sz="14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a:t>
            </a:r>
          </a:p>
        </p:txBody>
      </p:sp>
      <p:pic>
        <p:nvPicPr>
          <p:cNvPr id="10" name="Picture 9">
            <a:extLst>
              <a:ext uri="{FF2B5EF4-FFF2-40B4-BE49-F238E27FC236}">
                <a16:creationId xmlns:a16="http://schemas.microsoft.com/office/drawing/2014/main" id="{C23F520B-6DEF-C11E-FF50-D1760C5DACB2}"/>
              </a:ext>
            </a:extLst>
          </p:cNvPr>
          <p:cNvPicPr>
            <a:picLocks noChangeAspect="1"/>
          </p:cNvPicPr>
          <p:nvPr/>
        </p:nvPicPr>
        <p:blipFill>
          <a:blip r:embed="rId6"/>
          <a:stretch>
            <a:fillRect/>
          </a:stretch>
        </p:blipFill>
        <p:spPr>
          <a:xfrm>
            <a:off x="-1017" y="3249911"/>
            <a:ext cx="10693400" cy="4287186"/>
          </a:xfrm>
          <a:prstGeom prst="rect">
            <a:avLst/>
          </a:prstGeom>
        </p:spPr>
      </p:pic>
    </p:spTree>
    <p:extLst>
      <p:ext uri="{BB962C8B-B14F-4D97-AF65-F5344CB8AC3E}">
        <p14:creationId xmlns:p14="http://schemas.microsoft.com/office/powerpoint/2010/main" val="3922563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71055-904E-A203-BAAB-5FF2D46AA141}"/>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3413F317-06CF-8191-19F5-D88DD1D119C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9E2A9DBE-CAFD-DC2C-AAF3-6ED7789BEF4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6" name="TextBox 5">
            <a:extLst>
              <a:ext uri="{FF2B5EF4-FFF2-40B4-BE49-F238E27FC236}">
                <a16:creationId xmlns:a16="http://schemas.microsoft.com/office/drawing/2014/main" id="{1408FB16-DCF3-32B2-8E90-FE829676B760}"/>
              </a:ext>
            </a:extLst>
          </p:cNvPr>
          <p:cNvSpPr txBox="1"/>
          <p:nvPr/>
        </p:nvSpPr>
        <p:spPr>
          <a:xfrm>
            <a:off x="359875" y="196750"/>
            <a:ext cx="6294422" cy="1359346"/>
          </a:xfrm>
          <a:prstGeom prst="rect">
            <a:avLst/>
          </a:prstGeom>
          <a:noFill/>
        </p:spPr>
        <p:txBody>
          <a:bodyPr wrap="square">
            <a:spAutoFit/>
          </a:bodyPr>
          <a:lstStyle/>
          <a:p>
            <a:pPr algn="l">
              <a:spcBef>
                <a:spcPts val="1875"/>
              </a:spcBef>
              <a:spcAft>
                <a:spcPts val="1500"/>
              </a:spcAft>
              <a:buNone/>
            </a:pPr>
            <a:r>
              <a:rPr lang="en-US" b="0" i="0" dirty="0" err="1">
                <a:solidFill>
                  <a:srgbClr val="3585F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 dashboard</a:t>
            </a:r>
          </a:p>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Perform the following steps on the </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dashboard.</a:t>
            </a:r>
          </a:p>
          <a:p>
            <a:pPr algn="l">
              <a:spcBef>
                <a:spcPts val="1875"/>
              </a:spcBef>
              <a:spcAft>
                <a:spcPts val="1500"/>
              </a:spcAft>
            </a:pP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Create custom decoders and rules</a:t>
            </a:r>
          </a:p>
        </p:txBody>
      </p:sp>
      <p:sp>
        <p:nvSpPr>
          <p:cNvPr id="8" name="TextBox 7">
            <a:extLst>
              <a:ext uri="{FF2B5EF4-FFF2-40B4-BE49-F238E27FC236}">
                <a16:creationId xmlns:a16="http://schemas.microsoft.com/office/drawing/2014/main" id="{70413788-BD2B-125D-27B5-65380A5F5911}"/>
              </a:ext>
            </a:extLst>
          </p:cNvPr>
          <p:cNvSpPr txBox="1"/>
          <p:nvPr/>
        </p:nvSpPr>
        <p:spPr>
          <a:xfrm>
            <a:off x="667692" y="1556096"/>
            <a:ext cx="8240917" cy="523220"/>
          </a:xfrm>
          <a:prstGeom prst="rect">
            <a:avLst/>
          </a:prstGeom>
          <a:noFill/>
        </p:spPr>
        <p:txBody>
          <a:bodyPr wrap="square">
            <a:spAutoFit/>
          </a:bodyPr>
          <a:lstStyle/>
          <a:p>
            <a:pPr algn="l"/>
            <a:r>
              <a:rPr lang="en-US" sz="14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Access link copy code</a:t>
            </a:r>
          </a:p>
          <a:p>
            <a:pPr algn="l"/>
            <a:r>
              <a:rPr lang="en-US" sz="1400"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https://github.com/ddthien-coder/zeekxml/blob/develop/zeek_decoders.xml</a:t>
            </a:r>
          </a:p>
        </p:txBody>
      </p:sp>
      <p:pic>
        <p:nvPicPr>
          <p:cNvPr id="4" name="Picture 3">
            <a:extLst>
              <a:ext uri="{FF2B5EF4-FFF2-40B4-BE49-F238E27FC236}">
                <a16:creationId xmlns:a16="http://schemas.microsoft.com/office/drawing/2014/main" id="{24321F63-788E-686C-BDEF-7E0A01B08EA5}"/>
              </a:ext>
            </a:extLst>
          </p:cNvPr>
          <p:cNvPicPr>
            <a:picLocks noChangeAspect="1"/>
          </p:cNvPicPr>
          <p:nvPr/>
        </p:nvPicPr>
        <p:blipFill>
          <a:blip r:embed="rId5"/>
          <a:stretch>
            <a:fillRect/>
          </a:stretch>
        </p:blipFill>
        <p:spPr>
          <a:xfrm>
            <a:off x="0" y="2111368"/>
            <a:ext cx="10693400" cy="3889036"/>
          </a:xfrm>
          <a:prstGeom prst="rect">
            <a:avLst/>
          </a:prstGeom>
        </p:spPr>
      </p:pic>
    </p:spTree>
    <p:extLst>
      <p:ext uri="{BB962C8B-B14F-4D97-AF65-F5344CB8AC3E}">
        <p14:creationId xmlns:p14="http://schemas.microsoft.com/office/powerpoint/2010/main" val="88261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A7137-27D5-7EB4-5364-FF4289CE2B7B}"/>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B31F0624-2F56-6D2C-DE9B-269B21CC7D8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965F16DC-AD4C-F73B-5AA4-8D05808A0F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6" name="TextBox 5">
            <a:extLst>
              <a:ext uri="{FF2B5EF4-FFF2-40B4-BE49-F238E27FC236}">
                <a16:creationId xmlns:a16="http://schemas.microsoft.com/office/drawing/2014/main" id="{45364AEA-AD99-738C-07BC-ABECA8AE42D6}"/>
              </a:ext>
            </a:extLst>
          </p:cNvPr>
          <p:cNvSpPr txBox="1"/>
          <p:nvPr/>
        </p:nvSpPr>
        <p:spPr>
          <a:xfrm>
            <a:off x="359875" y="196750"/>
            <a:ext cx="6294422" cy="1359346"/>
          </a:xfrm>
          <a:prstGeom prst="rect">
            <a:avLst/>
          </a:prstGeom>
          <a:noFill/>
        </p:spPr>
        <p:txBody>
          <a:bodyPr wrap="square">
            <a:spAutoFit/>
          </a:bodyPr>
          <a:lstStyle/>
          <a:p>
            <a:pPr algn="l">
              <a:spcBef>
                <a:spcPts val="1875"/>
              </a:spcBef>
              <a:spcAft>
                <a:spcPts val="1500"/>
              </a:spcAft>
              <a:buNone/>
            </a:pPr>
            <a:r>
              <a:rPr lang="en-US" b="0" i="0" dirty="0" err="1">
                <a:solidFill>
                  <a:srgbClr val="3585F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 dashboard</a:t>
            </a:r>
          </a:p>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Perform the following steps on the </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dashboard.</a:t>
            </a:r>
          </a:p>
          <a:p>
            <a:pPr algn="l">
              <a:spcBef>
                <a:spcPts val="1875"/>
              </a:spcBef>
              <a:spcAft>
                <a:spcPts val="1500"/>
              </a:spcAft>
            </a:pP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Create custom decoders and rules</a:t>
            </a:r>
          </a:p>
        </p:txBody>
      </p:sp>
      <p:sp>
        <p:nvSpPr>
          <p:cNvPr id="9" name="TextBox 8">
            <a:extLst>
              <a:ext uri="{FF2B5EF4-FFF2-40B4-BE49-F238E27FC236}">
                <a16:creationId xmlns:a16="http://schemas.microsoft.com/office/drawing/2014/main" id="{592E8823-F412-89AF-5A1A-BE69FF67D616}"/>
              </a:ext>
            </a:extLst>
          </p:cNvPr>
          <p:cNvSpPr txBox="1"/>
          <p:nvPr/>
        </p:nvSpPr>
        <p:spPr>
          <a:xfrm>
            <a:off x="522839" y="1647418"/>
            <a:ext cx="8204702"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4. Navigate to </a:t>
            </a:r>
            <a:r>
              <a:rPr kumimoji="0" lang="en-US" altLang="en-US" sz="1800" b="1"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Server management</a:t>
            </a:r>
            <a:r>
              <a:rPr kumimoji="0" lang="en-US" altLang="en-US" sz="18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&gt; </a:t>
            </a:r>
            <a:r>
              <a:rPr kumimoji="0" lang="en-US" altLang="en-US" sz="1800" b="1"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Rules</a:t>
            </a:r>
            <a:r>
              <a:rPr kumimoji="0" lang="en-US" altLang="en-US" sz="18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5. Click </a:t>
            </a:r>
            <a:r>
              <a:rPr kumimoji="0" lang="en-US" altLang="en-US" sz="1800" b="1"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Add new rules file</a:t>
            </a:r>
            <a:r>
              <a:rPr kumimoji="0" lang="en-US" altLang="en-US" sz="18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6. Copy and paste the rules below and name the file </a:t>
            </a:r>
            <a:r>
              <a:rPr kumimoji="0" lang="en-US" altLang="en-US" sz="1100" b="0" i="0" u="none" strike="noStrike" cap="none" normalizeH="0" baseline="0" dirty="0">
                <a:ln>
                  <a:noFill/>
                </a:ln>
                <a:solidFill>
                  <a:srgbClr val="7C3DB2"/>
                </a:solidFill>
                <a:effectLst/>
                <a:latin typeface="Tahoma" panose="020B0604030504040204" pitchFamily="34" charset="0"/>
                <a:ea typeface="Tahoma" panose="020B0604030504040204" pitchFamily="34" charset="0"/>
                <a:cs typeface="Tahoma" panose="020B0604030504040204" pitchFamily="34" charset="0"/>
              </a:rPr>
              <a:t>zeek_rules.xml</a:t>
            </a:r>
            <a:r>
              <a:rPr kumimoji="0" lang="en-US" altLang="en-US" sz="18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 Click </a:t>
            </a:r>
            <a:r>
              <a:rPr kumimoji="0" lang="en-US" altLang="en-US" sz="1800" b="1"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Save</a:t>
            </a:r>
            <a:r>
              <a:rPr kumimoji="0" lang="en-US" altLang="en-US" sz="1800" b="0" i="0" u="none" strike="noStrike" cap="none" normalizeH="0" baseline="0" dirty="0">
                <a:ln>
                  <a:noFill/>
                </a:ln>
                <a:solidFill>
                  <a:srgbClr val="292929"/>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2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042FE231-E05E-A8AC-469D-63474B5C68EF}"/>
              </a:ext>
            </a:extLst>
          </p:cNvPr>
          <p:cNvPicPr>
            <a:picLocks noChangeAspect="1"/>
          </p:cNvPicPr>
          <p:nvPr/>
        </p:nvPicPr>
        <p:blipFill>
          <a:blip r:embed="rId5"/>
          <a:stretch>
            <a:fillRect/>
          </a:stretch>
        </p:blipFill>
        <p:spPr>
          <a:xfrm>
            <a:off x="-1017" y="2795404"/>
            <a:ext cx="10693400" cy="4066504"/>
          </a:xfrm>
          <a:prstGeom prst="rect">
            <a:avLst/>
          </a:prstGeom>
        </p:spPr>
      </p:pic>
      <p:sp>
        <p:nvSpPr>
          <p:cNvPr id="7" name="TextBox 6">
            <a:extLst>
              <a:ext uri="{FF2B5EF4-FFF2-40B4-BE49-F238E27FC236}">
                <a16:creationId xmlns:a16="http://schemas.microsoft.com/office/drawing/2014/main" id="{493FF699-2D28-D24E-23CA-7626BCA93212}"/>
              </a:ext>
            </a:extLst>
          </p:cNvPr>
          <p:cNvSpPr txBox="1"/>
          <p:nvPr/>
        </p:nvSpPr>
        <p:spPr>
          <a:xfrm>
            <a:off x="1717895" y="2864960"/>
            <a:ext cx="8354807" cy="338554"/>
          </a:xfrm>
          <a:prstGeom prst="rect">
            <a:avLst/>
          </a:prstGeom>
          <a:noFill/>
        </p:spPr>
        <p:txBody>
          <a:bodyPr wrap="square">
            <a:spAutoFit/>
          </a:bodyPr>
          <a:lstStyle/>
          <a:p>
            <a:r>
              <a:rPr lang="en-US" sz="1600" dirty="0"/>
              <a:t>https://github.com/ddthien-coder/zeekxml/blob/develop/zeek_rules.xml</a:t>
            </a:r>
          </a:p>
        </p:txBody>
      </p:sp>
    </p:spTree>
    <p:extLst>
      <p:ext uri="{BB962C8B-B14F-4D97-AF65-F5344CB8AC3E}">
        <p14:creationId xmlns:p14="http://schemas.microsoft.com/office/powerpoint/2010/main" val="489585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85A1-FA60-6712-FCD9-062DC8C9281D}"/>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38C4AB38-012B-9BC6-BB72-872CB04E3FA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FF1DA5F6-AE46-26DE-9067-4802E0F05E0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sp>
        <p:nvSpPr>
          <p:cNvPr id="8" name="TextBox 7">
            <a:extLst>
              <a:ext uri="{FF2B5EF4-FFF2-40B4-BE49-F238E27FC236}">
                <a16:creationId xmlns:a16="http://schemas.microsoft.com/office/drawing/2014/main" id="{2B01AA57-4FB0-AF68-AF3B-3F4C5BBD1FC6}"/>
              </a:ext>
            </a:extLst>
          </p:cNvPr>
          <p:cNvSpPr txBox="1"/>
          <p:nvPr/>
        </p:nvSpPr>
        <p:spPr>
          <a:xfrm>
            <a:off x="97324" y="0"/>
            <a:ext cx="10531444" cy="5491247"/>
          </a:xfrm>
          <a:prstGeom prst="rect">
            <a:avLst/>
          </a:prstGeom>
          <a:noFill/>
        </p:spPr>
        <p:txBody>
          <a:bodyPr wrap="square">
            <a:spAutoFit/>
          </a:bodyPr>
          <a:lstStyle/>
          <a:p>
            <a:pPr algn="l">
              <a:lnSpc>
                <a:spcPts val="3750"/>
              </a:lnSpc>
              <a:spcBef>
                <a:spcPts val="2625"/>
              </a:spcBef>
              <a:spcAft>
                <a:spcPts val="1500"/>
              </a:spcAft>
              <a:buNone/>
            </a:pPr>
            <a:r>
              <a:rPr lang="en-US" b="1"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Testing the integration</a:t>
            </a:r>
          </a:p>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We test the following use cases to validate the integration of Zeek with </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a:t>
            </a:r>
          </a:p>
          <a:p>
            <a:pPr algn="l">
              <a:spcAft>
                <a:spcPts val="750"/>
              </a:spcAft>
              <a:buFont typeface="Arial" panose="020B0604020202020204" pitchFamily="34" charset="0"/>
              <a:buChar char="•"/>
            </a:pPr>
            <a:r>
              <a:rPr lang="en-US" b="0" i="0" u="none" strike="noStrike" dirty="0">
                <a:solidFill>
                  <a:srgbClr val="3585F9"/>
                </a:solidFill>
                <a:effectLst/>
                <a:latin typeface="Tahoma" panose="020B0604030504040204" pitchFamily="34" charset="0"/>
                <a:ea typeface="Tahoma" panose="020B0604030504040204" pitchFamily="34" charset="0"/>
                <a:cs typeface="Tahoma" panose="020B0604030504040204" pitchFamily="34" charset="0"/>
                <a:hlinkClick r:id="rId4"/>
              </a:rPr>
              <a:t>DNS queries</a:t>
            </a:r>
            <a:endPar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algn="l">
              <a:spcAft>
                <a:spcPts val="750"/>
              </a:spcAft>
              <a:buFont typeface="Arial" panose="020B0604020202020204" pitchFamily="34" charset="0"/>
              <a:buChar char="•"/>
            </a:pPr>
            <a:r>
              <a:rPr lang="en-US" b="0" i="0" u="none" strike="noStrike" dirty="0">
                <a:solidFill>
                  <a:srgbClr val="3585F9"/>
                </a:solidFill>
                <a:effectLst/>
                <a:latin typeface="Tahoma" panose="020B0604030504040204" pitchFamily="34" charset="0"/>
                <a:ea typeface="Tahoma" panose="020B0604030504040204" pitchFamily="34" charset="0"/>
                <a:cs typeface="Tahoma" panose="020B0604030504040204" pitchFamily="34" charset="0"/>
                <a:hlinkClick r:id="rId5"/>
              </a:rPr>
              <a:t>Reconnaissance and port scanning activity</a:t>
            </a:r>
            <a:endPar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algn="l">
              <a:spcAft>
                <a:spcPts val="750"/>
              </a:spcAft>
              <a:buFont typeface="Arial" panose="020B0604020202020204" pitchFamily="34" charset="0"/>
              <a:buChar char="•"/>
            </a:pPr>
            <a:r>
              <a:rPr lang="en-US" b="0" i="0" u="none" strike="noStrike" dirty="0">
                <a:solidFill>
                  <a:srgbClr val="3585F9"/>
                </a:solidFill>
                <a:effectLst/>
                <a:latin typeface="Tahoma" panose="020B0604030504040204" pitchFamily="34" charset="0"/>
                <a:ea typeface="Tahoma" panose="020B0604030504040204" pitchFamily="34" charset="0"/>
                <a:cs typeface="Tahoma" panose="020B0604030504040204" pitchFamily="34" charset="0"/>
                <a:hlinkClick r:id="rId6"/>
              </a:rPr>
              <a:t>SSL/TLS certificate validation threats</a:t>
            </a:r>
            <a:endPar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endParaRPr>
          </a:p>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Perform the following steps to test the integration and view alerts on the </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dashboard.</a:t>
            </a:r>
          </a:p>
          <a:p>
            <a:pPr algn="l">
              <a:spcBef>
                <a:spcPts val="2250"/>
              </a:spcBef>
              <a:spcAft>
                <a:spcPts val="1500"/>
              </a:spcAft>
              <a:buNone/>
            </a:pP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DNS queries</a:t>
            </a:r>
          </a:p>
          <a:p>
            <a:pPr algn="l">
              <a:buNone/>
            </a:pP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We simulate DNS queries on the Ubuntu endpoint. Run the following commands to generate DNS query logs. </a:t>
            </a:r>
          </a:p>
          <a:p>
            <a:pPr algn="l" rtl="0">
              <a:lnSpc>
                <a:spcPts val="1500"/>
              </a:lnSpc>
              <a:spcAft>
                <a:spcPts val="1500"/>
              </a:spcAft>
              <a:buNone/>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dig wazuh.com</a:t>
            </a:r>
            <a:endParaRPr lang="en-US" b="0" i="0" dirty="0">
              <a:solidFill>
                <a:srgbClr val="AAAAAA"/>
              </a:solidFill>
              <a:effectLst/>
              <a:latin typeface="Tahoma" panose="020B0604030504040204" pitchFamily="34" charset="0"/>
              <a:ea typeface="Tahoma" panose="020B0604030504040204" pitchFamily="34" charset="0"/>
              <a:cs typeface="Tahoma" panose="020B0604030504040204" pitchFamily="34" charset="0"/>
            </a:endParaRPr>
          </a:p>
          <a:p>
            <a:pPr algn="l" rtl="0">
              <a:lnSpc>
                <a:spcPts val="1500"/>
              </a:lnSpc>
              <a:spcAft>
                <a:spcPts val="1500"/>
              </a:spcAft>
              <a:buNone/>
            </a:pPr>
            <a:r>
              <a:rPr lang="en-US"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dig virustotal.com</a:t>
            </a:r>
            <a:endParaRPr lang="en-US" dirty="0">
              <a:solidFill>
                <a:srgbClr val="AAAAAA"/>
              </a:solidFill>
              <a:latin typeface="Tahoma" panose="020B0604030504040204" pitchFamily="34" charset="0"/>
              <a:ea typeface="Tahoma" panose="020B0604030504040204" pitchFamily="34" charset="0"/>
              <a:cs typeface="Tahoma" panose="020B0604030504040204" pitchFamily="34" charset="0"/>
            </a:endParaRPr>
          </a:p>
          <a:p>
            <a:pPr algn="l" rtl="0">
              <a:lnSpc>
                <a:spcPts val="1500"/>
              </a:lnSpc>
              <a:spcAft>
                <a:spcPts val="1500"/>
              </a:spcAft>
              <a:buNone/>
            </a:pPr>
            <a:r>
              <a:rPr lang="en-US" b="0" i="0" dirty="0">
                <a:solidFill>
                  <a:srgbClr val="3585F9"/>
                </a:solidFill>
                <a:effectLst/>
                <a:latin typeface="Tahoma" panose="020B0604030504040204" pitchFamily="34" charset="0"/>
                <a:ea typeface="Tahoma" panose="020B0604030504040204" pitchFamily="34" charset="0"/>
                <a:cs typeface="Tahoma" panose="020B0604030504040204" pitchFamily="34" charset="0"/>
              </a:rPr>
              <a:t>Detection results</a:t>
            </a:r>
          </a:p>
          <a:p>
            <a:pPr algn="l"/>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Follow the steps below to view the alerts generated on the </a:t>
            </a:r>
            <a:r>
              <a:rPr lang="en-US" b="0" i="0" dirty="0" err="1">
                <a:solidFill>
                  <a:srgbClr val="292929"/>
                </a:solidFill>
                <a:effectLst/>
                <a:latin typeface="Tahoma" panose="020B0604030504040204" pitchFamily="34" charset="0"/>
                <a:ea typeface="Tahoma" panose="020B0604030504040204" pitchFamily="34" charset="0"/>
                <a:cs typeface="Tahoma" panose="020B0604030504040204" pitchFamily="34" charset="0"/>
              </a:rPr>
              <a:t>Wazuh</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dashboard once the attack attempt is completed.</a:t>
            </a:r>
          </a:p>
        </p:txBody>
      </p:sp>
      <p:sp>
        <p:nvSpPr>
          <p:cNvPr id="13" name="TextBox 12">
            <a:extLst>
              <a:ext uri="{FF2B5EF4-FFF2-40B4-BE49-F238E27FC236}">
                <a16:creationId xmlns:a16="http://schemas.microsoft.com/office/drawing/2014/main" id="{CFBD925E-22C3-AB56-D068-65CEED1D3A0F}"/>
              </a:ext>
            </a:extLst>
          </p:cNvPr>
          <p:cNvSpPr txBox="1"/>
          <p:nvPr/>
        </p:nvSpPr>
        <p:spPr>
          <a:xfrm>
            <a:off x="785388" y="5622579"/>
            <a:ext cx="5409444" cy="369332"/>
          </a:xfrm>
          <a:prstGeom prst="rect">
            <a:avLst/>
          </a:prstGeom>
          <a:noFill/>
        </p:spPr>
        <p:txBody>
          <a:bodyPr wrap="square">
            <a:spAutoFit/>
          </a:bodyPr>
          <a:lstStyle/>
          <a:p>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a:t>
            </a:r>
            <a:r>
              <a:rPr lang="en-US" b="1"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Threat Hunting</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and click the </a:t>
            </a:r>
            <a:r>
              <a:rPr lang="en-US" b="1"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Events</a:t>
            </a:r>
            <a:r>
              <a:rPr lang="en-US" b="0" i="0" dirty="0">
                <a:solidFill>
                  <a:srgbClr val="292929"/>
                </a:solidFill>
                <a:effectLst/>
                <a:latin typeface="Tahoma" panose="020B0604030504040204" pitchFamily="34" charset="0"/>
                <a:ea typeface="Tahoma" panose="020B0604030504040204" pitchFamily="34" charset="0"/>
                <a:cs typeface="Tahoma" panose="020B0604030504040204" pitchFamily="34" charset="0"/>
              </a:rPr>
              <a:t> tab.</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0687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45043-E824-0C1E-F6AE-2D0788DBB2F2}"/>
            </a:ext>
          </a:extLst>
        </p:cNvPr>
        <p:cNvGrpSpPr/>
        <p:nvPr/>
      </p:nvGrpSpPr>
      <p:grpSpPr>
        <a:xfrm>
          <a:off x="0" y="0"/>
          <a:ext cx="0" cy="0"/>
          <a:chOff x="0" y="0"/>
          <a:chExt cx="0" cy="0"/>
        </a:xfrm>
      </p:grpSpPr>
      <p:pic>
        <p:nvPicPr>
          <p:cNvPr id="107" name="Picture 100">
            <a:extLst>
              <a:ext uri="{FF2B5EF4-FFF2-40B4-BE49-F238E27FC236}">
                <a16:creationId xmlns:a16="http://schemas.microsoft.com/office/drawing/2014/main" id="{BCCBF03B-E94B-9D15-DCBA-968FDC6127F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108" name="Picture 108">
            <a:extLst>
              <a:ext uri="{FF2B5EF4-FFF2-40B4-BE49-F238E27FC236}">
                <a16:creationId xmlns:a16="http://schemas.microsoft.com/office/drawing/2014/main" id="{0BCDCD83-6511-09E3-C918-433DDA2E25F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72702" y="6861908"/>
            <a:ext cx="469391" cy="563880"/>
          </a:xfrm>
          <a:prstGeom prst="rect">
            <a:avLst/>
          </a:prstGeom>
          <a:noFill/>
        </p:spPr>
      </p:pic>
      <p:pic>
        <p:nvPicPr>
          <p:cNvPr id="3" name="Picture 2">
            <a:extLst>
              <a:ext uri="{FF2B5EF4-FFF2-40B4-BE49-F238E27FC236}">
                <a16:creationId xmlns:a16="http://schemas.microsoft.com/office/drawing/2014/main" id="{53DAA931-168B-01B5-99A6-01114A55F0A1}"/>
              </a:ext>
            </a:extLst>
          </p:cNvPr>
          <p:cNvPicPr>
            <a:picLocks noChangeAspect="1"/>
          </p:cNvPicPr>
          <p:nvPr/>
        </p:nvPicPr>
        <p:blipFill>
          <a:blip r:embed="rId4"/>
          <a:stretch>
            <a:fillRect/>
          </a:stretch>
        </p:blipFill>
        <p:spPr>
          <a:xfrm>
            <a:off x="0" y="0"/>
            <a:ext cx="10693400" cy="6301308"/>
          </a:xfrm>
          <a:prstGeom prst="rect">
            <a:avLst/>
          </a:prstGeom>
        </p:spPr>
      </p:pic>
    </p:spTree>
    <p:extLst>
      <p:ext uri="{BB962C8B-B14F-4D97-AF65-F5344CB8AC3E}">
        <p14:creationId xmlns:p14="http://schemas.microsoft.com/office/powerpoint/2010/main" val="3930116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5" name="Picture 10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0" y="0"/>
            <a:ext cx="10692383" cy="7556500"/>
          </a:xfrm>
          <a:prstGeom prst="rect">
            <a:avLst/>
          </a:prstGeom>
          <a:noFill/>
        </p:spPr>
      </p:pic>
      <p:pic>
        <p:nvPicPr>
          <p:cNvPr id="306" name="Picture 10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125456" y="6184900"/>
            <a:ext cx="469391" cy="563880"/>
          </a:xfrm>
          <a:prstGeom prst="rect">
            <a:avLst/>
          </a:prstGeom>
          <a:noFill/>
        </p:spPr>
      </p:pic>
      <p:pic>
        <p:nvPicPr>
          <p:cNvPr id="307" name="Picture 30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3310128" y="3450844"/>
            <a:ext cx="3398520" cy="621791"/>
          </a:xfrm>
          <a:prstGeom prst="rect">
            <a:avLst/>
          </a:prstGeom>
          <a:noFill/>
        </p:spPr>
      </p:pic>
      <p:pic>
        <p:nvPicPr>
          <p:cNvPr id="308" name="Picture 30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a:xfrm>
            <a:off x="3343147" y="3486913"/>
            <a:ext cx="3329432" cy="552703"/>
          </a:xfrm>
          <a:prstGeom prst="rect">
            <a:avLst/>
          </a:prstGeom>
          <a:noFill/>
        </p:spPr>
      </p:pic>
      <p:sp>
        <p:nvSpPr>
          <p:cNvPr id="309" name="Freeform 309"/>
          <p:cNvSpPr/>
          <p:nvPr/>
        </p:nvSpPr>
        <p:spPr>
          <a:xfrm>
            <a:off x="3355847" y="3499612"/>
            <a:ext cx="3304033" cy="527304"/>
          </a:xfrm>
          <a:custGeom>
            <a:avLst/>
            <a:gdLst/>
            <a:ahLst/>
            <a:cxnLst/>
            <a:rect l="0" t="0" r="0" b="0"/>
            <a:pathLst>
              <a:path w="3304033" h="527304">
                <a:moveTo>
                  <a:pt x="3157729" y="390144"/>
                </a:moveTo>
                <a:lnTo>
                  <a:pt x="3300984" y="390144"/>
                </a:lnTo>
                <a:lnTo>
                  <a:pt x="3300984" y="518160"/>
                </a:lnTo>
                <a:lnTo>
                  <a:pt x="3157729" y="518160"/>
                </a:lnTo>
                <a:close/>
                <a:moveTo>
                  <a:pt x="310897" y="4056888"/>
                </a:moveTo>
                <a:moveTo>
                  <a:pt x="1377697" y="338329"/>
                </a:moveTo>
                <a:cubicBezTo>
                  <a:pt x="1356361" y="347473"/>
                  <a:pt x="1338073" y="353568"/>
                  <a:pt x="1313688" y="359665"/>
                </a:cubicBezTo>
                <a:cubicBezTo>
                  <a:pt x="1286256" y="365760"/>
                  <a:pt x="1267968" y="374904"/>
                  <a:pt x="1258824" y="381000"/>
                </a:cubicBezTo>
                <a:cubicBezTo>
                  <a:pt x="1252729" y="390144"/>
                  <a:pt x="1246632" y="399288"/>
                  <a:pt x="1246632" y="408433"/>
                </a:cubicBezTo>
                <a:cubicBezTo>
                  <a:pt x="1246632" y="420624"/>
                  <a:pt x="1252729" y="429768"/>
                  <a:pt x="1258824" y="435865"/>
                </a:cubicBezTo>
                <a:cubicBezTo>
                  <a:pt x="1267968" y="441960"/>
                  <a:pt x="1280161" y="448056"/>
                  <a:pt x="1295400" y="448056"/>
                </a:cubicBezTo>
                <a:cubicBezTo>
                  <a:pt x="1310641" y="448056"/>
                  <a:pt x="1325881" y="441960"/>
                  <a:pt x="1338073" y="435865"/>
                </a:cubicBezTo>
                <a:cubicBezTo>
                  <a:pt x="1353312" y="426721"/>
                  <a:pt x="1362456" y="417577"/>
                  <a:pt x="1368553" y="405385"/>
                </a:cubicBezTo>
                <a:cubicBezTo>
                  <a:pt x="1374649" y="396241"/>
                  <a:pt x="1377697" y="381000"/>
                  <a:pt x="1377697" y="362712"/>
                </a:cubicBezTo>
                <a:close/>
                <a:moveTo>
                  <a:pt x="362712" y="4056888"/>
                </a:moveTo>
                <a:moveTo>
                  <a:pt x="2849881" y="134112"/>
                </a:moveTo>
                <a:cubicBezTo>
                  <a:pt x="2892553" y="134112"/>
                  <a:pt x="2926081" y="137160"/>
                  <a:pt x="2947417" y="143256"/>
                </a:cubicBezTo>
                <a:cubicBezTo>
                  <a:pt x="2968753" y="149353"/>
                  <a:pt x="2987041" y="161544"/>
                  <a:pt x="3002281" y="176785"/>
                </a:cubicBezTo>
                <a:cubicBezTo>
                  <a:pt x="3014473" y="188977"/>
                  <a:pt x="3026664" y="210312"/>
                  <a:pt x="3035808" y="234697"/>
                </a:cubicBezTo>
                <a:lnTo>
                  <a:pt x="2898649" y="246888"/>
                </a:lnTo>
                <a:cubicBezTo>
                  <a:pt x="2895600" y="234697"/>
                  <a:pt x="2889505" y="225553"/>
                  <a:pt x="2883408" y="222504"/>
                </a:cubicBezTo>
                <a:cubicBezTo>
                  <a:pt x="2871217" y="213360"/>
                  <a:pt x="2855976" y="210312"/>
                  <a:pt x="2840737" y="210312"/>
                </a:cubicBezTo>
                <a:cubicBezTo>
                  <a:pt x="2825497" y="210312"/>
                  <a:pt x="2813305" y="213360"/>
                  <a:pt x="2807208" y="219456"/>
                </a:cubicBezTo>
                <a:cubicBezTo>
                  <a:pt x="2798064" y="225553"/>
                  <a:pt x="2795017" y="231648"/>
                  <a:pt x="2795017" y="240792"/>
                </a:cubicBezTo>
                <a:cubicBezTo>
                  <a:pt x="2795017" y="249936"/>
                  <a:pt x="2798064" y="256033"/>
                  <a:pt x="2810256" y="259080"/>
                </a:cubicBezTo>
                <a:cubicBezTo>
                  <a:pt x="2819400" y="265177"/>
                  <a:pt x="2837688" y="268224"/>
                  <a:pt x="2871217" y="274321"/>
                </a:cubicBezTo>
                <a:cubicBezTo>
                  <a:pt x="2916937" y="277368"/>
                  <a:pt x="2953512" y="286512"/>
                  <a:pt x="2977897" y="295656"/>
                </a:cubicBezTo>
                <a:cubicBezTo>
                  <a:pt x="2999232" y="304800"/>
                  <a:pt x="3017520" y="320041"/>
                  <a:pt x="3029712" y="338329"/>
                </a:cubicBezTo>
                <a:cubicBezTo>
                  <a:pt x="3041905" y="353568"/>
                  <a:pt x="3051049" y="374904"/>
                  <a:pt x="3051049" y="396241"/>
                </a:cubicBezTo>
                <a:cubicBezTo>
                  <a:pt x="3051049" y="417577"/>
                  <a:pt x="3041905" y="438912"/>
                  <a:pt x="3029712" y="460248"/>
                </a:cubicBezTo>
                <a:cubicBezTo>
                  <a:pt x="3017520" y="478536"/>
                  <a:pt x="2996185" y="496824"/>
                  <a:pt x="2968753" y="509017"/>
                </a:cubicBezTo>
                <a:cubicBezTo>
                  <a:pt x="2938273" y="521209"/>
                  <a:pt x="2901697" y="527304"/>
                  <a:pt x="2852929" y="527304"/>
                </a:cubicBezTo>
                <a:cubicBezTo>
                  <a:pt x="2782824" y="527304"/>
                  <a:pt x="2734056" y="518160"/>
                  <a:pt x="2706624" y="496824"/>
                </a:cubicBezTo>
                <a:cubicBezTo>
                  <a:pt x="2676144" y="478536"/>
                  <a:pt x="2657856" y="451104"/>
                  <a:pt x="2648712" y="414529"/>
                </a:cubicBezTo>
                <a:lnTo>
                  <a:pt x="2791968" y="399288"/>
                </a:lnTo>
                <a:cubicBezTo>
                  <a:pt x="2798064" y="417577"/>
                  <a:pt x="2807208" y="429768"/>
                  <a:pt x="2816353" y="435865"/>
                </a:cubicBezTo>
                <a:cubicBezTo>
                  <a:pt x="2828544" y="445009"/>
                  <a:pt x="2843785" y="448056"/>
                  <a:pt x="2859024" y="448056"/>
                </a:cubicBezTo>
                <a:cubicBezTo>
                  <a:pt x="2880361" y="448056"/>
                  <a:pt x="2895600" y="445009"/>
                  <a:pt x="2904744" y="435865"/>
                </a:cubicBezTo>
                <a:cubicBezTo>
                  <a:pt x="2913888" y="429768"/>
                  <a:pt x="2916937" y="420624"/>
                  <a:pt x="2916937" y="411480"/>
                </a:cubicBezTo>
                <a:cubicBezTo>
                  <a:pt x="2916937" y="402336"/>
                  <a:pt x="2910841" y="393192"/>
                  <a:pt x="2901697" y="387097"/>
                </a:cubicBezTo>
                <a:cubicBezTo>
                  <a:pt x="2892553" y="384048"/>
                  <a:pt x="2874264" y="377953"/>
                  <a:pt x="2840737" y="374904"/>
                </a:cubicBezTo>
                <a:cubicBezTo>
                  <a:pt x="2788920" y="365760"/>
                  <a:pt x="2755393" y="356617"/>
                  <a:pt x="2734056" y="350521"/>
                </a:cubicBezTo>
                <a:cubicBezTo>
                  <a:pt x="2715768" y="341377"/>
                  <a:pt x="2700529" y="329185"/>
                  <a:pt x="2685288" y="310897"/>
                </a:cubicBezTo>
                <a:cubicBezTo>
                  <a:pt x="2673097" y="292609"/>
                  <a:pt x="2667000" y="274321"/>
                  <a:pt x="2667000" y="249936"/>
                </a:cubicBezTo>
                <a:cubicBezTo>
                  <a:pt x="2667000" y="225553"/>
                  <a:pt x="2673097" y="204217"/>
                  <a:pt x="2688337" y="185929"/>
                </a:cubicBezTo>
                <a:cubicBezTo>
                  <a:pt x="2700529" y="167641"/>
                  <a:pt x="2721864" y="155448"/>
                  <a:pt x="2746249" y="146304"/>
                </a:cubicBezTo>
                <a:cubicBezTo>
                  <a:pt x="2770632" y="137160"/>
                  <a:pt x="2807208" y="134112"/>
                  <a:pt x="2849881" y="134112"/>
                </a:cubicBezTo>
                <a:close/>
                <a:moveTo>
                  <a:pt x="566929" y="4056888"/>
                </a:moveTo>
                <a:moveTo>
                  <a:pt x="1908049" y="134112"/>
                </a:moveTo>
                <a:cubicBezTo>
                  <a:pt x="1947673" y="134112"/>
                  <a:pt x="1981200" y="146304"/>
                  <a:pt x="2002537" y="167641"/>
                </a:cubicBezTo>
                <a:cubicBezTo>
                  <a:pt x="2026920" y="192024"/>
                  <a:pt x="2036064" y="228600"/>
                  <a:pt x="2036064" y="280417"/>
                </a:cubicBezTo>
                <a:lnTo>
                  <a:pt x="2036064" y="518160"/>
                </a:lnTo>
                <a:lnTo>
                  <a:pt x="1892808" y="518160"/>
                </a:lnTo>
                <a:lnTo>
                  <a:pt x="1892808" y="310897"/>
                </a:lnTo>
                <a:cubicBezTo>
                  <a:pt x="1892808" y="286512"/>
                  <a:pt x="1886712" y="271273"/>
                  <a:pt x="1877568" y="262129"/>
                </a:cubicBezTo>
                <a:cubicBezTo>
                  <a:pt x="1871473" y="249936"/>
                  <a:pt x="1856232" y="246888"/>
                  <a:pt x="1840993" y="246888"/>
                </a:cubicBezTo>
                <a:cubicBezTo>
                  <a:pt x="1825753" y="246888"/>
                  <a:pt x="1810512" y="252985"/>
                  <a:pt x="1798320" y="265177"/>
                </a:cubicBezTo>
                <a:cubicBezTo>
                  <a:pt x="1789176" y="280417"/>
                  <a:pt x="1783081" y="304800"/>
                  <a:pt x="1783081" y="338329"/>
                </a:cubicBezTo>
                <a:lnTo>
                  <a:pt x="1783081" y="518160"/>
                </a:lnTo>
                <a:lnTo>
                  <a:pt x="1639824" y="518160"/>
                </a:lnTo>
                <a:lnTo>
                  <a:pt x="1639824" y="143256"/>
                </a:lnTo>
                <a:lnTo>
                  <a:pt x="1773937" y="143256"/>
                </a:lnTo>
                <a:lnTo>
                  <a:pt x="1773937" y="204217"/>
                </a:lnTo>
                <a:cubicBezTo>
                  <a:pt x="1792224" y="176785"/>
                  <a:pt x="1813561" y="161544"/>
                  <a:pt x="1834897" y="149353"/>
                </a:cubicBezTo>
                <a:cubicBezTo>
                  <a:pt x="1853185" y="140209"/>
                  <a:pt x="1880617" y="134112"/>
                  <a:pt x="1908049" y="134112"/>
                </a:cubicBezTo>
                <a:close/>
                <a:moveTo>
                  <a:pt x="566929" y="4056888"/>
                </a:moveTo>
                <a:moveTo>
                  <a:pt x="1307593" y="134112"/>
                </a:moveTo>
                <a:cubicBezTo>
                  <a:pt x="1353312" y="134112"/>
                  <a:pt x="1386841" y="137160"/>
                  <a:pt x="1414273" y="140209"/>
                </a:cubicBezTo>
                <a:cubicBezTo>
                  <a:pt x="1438656" y="146304"/>
                  <a:pt x="1459993" y="155448"/>
                  <a:pt x="1478281" y="170688"/>
                </a:cubicBezTo>
                <a:cubicBezTo>
                  <a:pt x="1490473" y="182880"/>
                  <a:pt x="1499617" y="198121"/>
                  <a:pt x="1508761" y="216409"/>
                </a:cubicBezTo>
                <a:cubicBezTo>
                  <a:pt x="1514856" y="234697"/>
                  <a:pt x="1517905" y="252985"/>
                  <a:pt x="1517905" y="271273"/>
                </a:cubicBezTo>
                <a:lnTo>
                  <a:pt x="1517905" y="438912"/>
                </a:lnTo>
                <a:cubicBezTo>
                  <a:pt x="1517905" y="457200"/>
                  <a:pt x="1517905" y="469392"/>
                  <a:pt x="1520953" y="478536"/>
                </a:cubicBezTo>
                <a:cubicBezTo>
                  <a:pt x="1524000" y="490729"/>
                  <a:pt x="1530097" y="502921"/>
                  <a:pt x="1536193" y="518160"/>
                </a:cubicBezTo>
                <a:lnTo>
                  <a:pt x="1402081" y="518160"/>
                </a:lnTo>
                <a:cubicBezTo>
                  <a:pt x="1395985" y="509017"/>
                  <a:pt x="1392937" y="499873"/>
                  <a:pt x="1389888" y="496824"/>
                </a:cubicBezTo>
                <a:cubicBezTo>
                  <a:pt x="1389888" y="490729"/>
                  <a:pt x="1386841" y="481585"/>
                  <a:pt x="1386841" y="472441"/>
                </a:cubicBezTo>
                <a:cubicBezTo>
                  <a:pt x="1365505" y="490729"/>
                  <a:pt x="1347217" y="502921"/>
                  <a:pt x="1328929" y="512065"/>
                </a:cubicBezTo>
                <a:cubicBezTo>
                  <a:pt x="1304544" y="521209"/>
                  <a:pt x="1274064" y="527304"/>
                  <a:pt x="1240537" y="527304"/>
                </a:cubicBezTo>
                <a:cubicBezTo>
                  <a:pt x="1194817" y="527304"/>
                  <a:pt x="1161288" y="515112"/>
                  <a:pt x="1136905" y="496824"/>
                </a:cubicBezTo>
                <a:cubicBezTo>
                  <a:pt x="1115568" y="475488"/>
                  <a:pt x="1103376" y="448056"/>
                  <a:pt x="1103376" y="417577"/>
                </a:cubicBezTo>
                <a:cubicBezTo>
                  <a:pt x="1103376" y="390144"/>
                  <a:pt x="1112520" y="365760"/>
                  <a:pt x="1127761" y="347473"/>
                </a:cubicBezTo>
                <a:cubicBezTo>
                  <a:pt x="1146049" y="329185"/>
                  <a:pt x="1176529" y="316992"/>
                  <a:pt x="1222249" y="307848"/>
                </a:cubicBezTo>
                <a:cubicBezTo>
                  <a:pt x="1274064" y="295656"/>
                  <a:pt x="1310641" y="289560"/>
                  <a:pt x="1325881" y="283465"/>
                </a:cubicBezTo>
                <a:cubicBezTo>
                  <a:pt x="1341120" y="280417"/>
                  <a:pt x="1359408" y="274321"/>
                  <a:pt x="1377697" y="268224"/>
                </a:cubicBezTo>
                <a:cubicBezTo>
                  <a:pt x="1377697" y="249936"/>
                  <a:pt x="1374649" y="237744"/>
                  <a:pt x="1365505" y="228600"/>
                </a:cubicBezTo>
                <a:cubicBezTo>
                  <a:pt x="1359408" y="222504"/>
                  <a:pt x="1347217" y="219456"/>
                  <a:pt x="1328929" y="219456"/>
                </a:cubicBezTo>
                <a:cubicBezTo>
                  <a:pt x="1304544" y="219456"/>
                  <a:pt x="1286256" y="222504"/>
                  <a:pt x="1274064" y="231648"/>
                </a:cubicBezTo>
                <a:cubicBezTo>
                  <a:pt x="1264920" y="237744"/>
                  <a:pt x="1258824" y="246888"/>
                  <a:pt x="1252729" y="265177"/>
                </a:cubicBezTo>
                <a:lnTo>
                  <a:pt x="1115568" y="249936"/>
                </a:lnTo>
                <a:cubicBezTo>
                  <a:pt x="1118617" y="225553"/>
                  <a:pt x="1127761" y="207265"/>
                  <a:pt x="1136905" y="192024"/>
                </a:cubicBezTo>
                <a:cubicBezTo>
                  <a:pt x="1146049" y="179833"/>
                  <a:pt x="1161288" y="167641"/>
                  <a:pt x="1179576" y="155448"/>
                </a:cubicBezTo>
                <a:cubicBezTo>
                  <a:pt x="1191768" y="149353"/>
                  <a:pt x="1210056" y="143256"/>
                  <a:pt x="1234441" y="140209"/>
                </a:cubicBezTo>
                <a:cubicBezTo>
                  <a:pt x="1255776" y="134112"/>
                  <a:pt x="1283208" y="134112"/>
                  <a:pt x="1307593" y="134112"/>
                </a:cubicBezTo>
                <a:close/>
                <a:moveTo>
                  <a:pt x="566929" y="4056888"/>
                </a:moveTo>
                <a:moveTo>
                  <a:pt x="3151633" y="0"/>
                </a:moveTo>
                <a:lnTo>
                  <a:pt x="3304033" y="0"/>
                </a:lnTo>
                <a:lnTo>
                  <a:pt x="3304033" y="115824"/>
                </a:lnTo>
                <a:lnTo>
                  <a:pt x="3276600" y="353568"/>
                </a:lnTo>
                <a:lnTo>
                  <a:pt x="3179064" y="353568"/>
                </a:lnTo>
                <a:lnTo>
                  <a:pt x="3151633" y="115824"/>
                </a:lnTo>
                <a:close/>
                <a:moveTo>
                  <a:pt x="701041" y="4056888"/>
                </a:moveTo>
                <a:moveTo>
                  <a:pt x="2157985" y="0"/>
                </a:moveTo>
                <a:lnTo>
                  <a:pt x="2304288" y="0"/>
                </a:lnTo>
                <a:lnTo>
                  <a:pt x="2304288" y="268224"/>
                </a:lnTo>
                <a:lnTo>
                  <a:pt x="2410968" y="143256"/>
                </a:lnTo>
                <a:lnTo>
                  <a:pt x="2590800" y="143256"/>
                </a:lnTo>
                <a:lnTo>
                  <a:pt x="2453641" y="274321"/>
                </a:lnTo>
                <a:lnTo>
                  <a:pt x="2596897" y="518160"/>
                </a:lnTo>
                <a:lnTo>
                  <a:pt x="2435353" y="518160"/>
                </a:lnTo>
                <a:lnTo>
                  <a:pt x="2359153" y="368809"/>
                </a:lnTo>
                <a:lnTo>
                  <a:pt x="2304288" y="420624"/>
                </a:lnTo>
                <a:lnTo>
                  <a:pt x="2304288" y="518160"/>
                </a:lnTo>
                <a:lnTo>
                  <a:pt x="2157985" y="518160"/>
                </a:lnTo>
                <a:close/>
                <a:moveTo>
                  <a:pt x="701041" y="4056888"/>
                </a:moveTo>
                <a:moveTo>
                  <a:pt x="603505" y="0"/>
                </a:moveTo>
                <a:lnTo>
                  <a:pt x="746761" y="0"/>
                </a:lnTo>
                <a:lnTo>
                  <a:pt x="746761" y="188977"/>
                </a:lnTo>
                <a:cubicBezTo>
                  <a:pt x="765049" y="170688"/>
                  <a:pt x="786385" y="155448"/>
                  <a:pt x="804673" y="146304"/>
                </a:cubicBezTo>
                <a:cubicBezTo>
                  <a:pt x="826008" y="137160"/>
                  <a:pt x="847344" y="134112"/>
                  <a:pt x="874776" y="134112"/>
                </a:cubicBezTo>
                <a:cubicBezTo>
                  <a:pt x="914400" y="134112"/>
                  <a:pt x="944881" y="146304"/>
                  <a:pt x="966217" y="170688"/>
                </a:cubicBezTo>
                <a:cubicBezTo>
                  <a:pt x="990600" y="192024"/>
                  <a:pt x="999744" y="228600"/>
                  <a:pt x="999744" y="280417"/>
                </a:cubicBezTo>
                <a:lnTo>
                  <a:pt x="999744" y="518160"/>
                </a:lnTo>
                <a:lnTo>
                  <a:pt x="856488" y="518160"/>
                </a:lnTo>
                <a:lnTo>
                  <a:pt x="856488" y="310897"/>
                </a:lnTo>
                <a:cubicBezTo>
                  <a:pt x="856488" y="286512"/>
                  <a:pt x="850393" y="271273"/>
                  <a:pt x="841249" y="262129"/>
                </a:cubicBezTo>
                <a:cubicBezTo>
                  <a:pt x="835153" y="249936"/>
                  <a:pt x="819912" y="246888"/>
                  <a:pt x="804673" y="246888"/>
                </a:cubicBezTo>
                <a:cubicBezTo>
                  <a:pt x="789432" y="246888"/>
                  <a:pt x="774193" y="252985"/>
                  <a:pt x="762000" y="265177"/>
                </a:cubicBezTo>
                <a:cubicBezTo>
                  <a:pt x="752856" y="280417"/>
                  <a:pt x="746761" y="304800"/>
                  <a:pt x="746761" y="338329"/>
                </a:cubicBezTo>
                <a:lnTo>
                  <a:pt x="746761" y="518160"/>
                </a:lnTo>
                <a:lnTo>
                  <a:pt x="603505" y="518160"/>
                </a:lnTo>
                <a:close/>
                <a:moveTo>
                  <a:pt x="701041" y="4056888"/>
                </a:moveTo>
                <a:moveTo>
                  <a:pt x="0" y="0"/>
                </a:moveTo>
                <a:lnTo>
                  <a:pt x="487681" y="0"/>
                </a:lnTo>
                <a:lnTo>
                  <a:pt x="487681" y="128017"/>
                </a:lnTo>
                <a:lnTo>
                  <a:pt x="323088" y="128017"/>
                </a:lnTo>
                <a:lnTo>
                  <a:pt x="323088" y="518160"/>
                </a:lnTo>
                <a:lnTo>
                  <a:pt x="164593" y="518160"/>
                </a:lnTo>
                <a:lnTo>
                  <a:pt x="164593" y="128017"/>
                </a:lnTo>
                <a:lnTo>
                  <a:pt x="0" y="128017"/>
                </a:lnTo>
                <a:close/>
                <a:moveTo>
                  <a:pt x="701041" y="4056888"/>
                </a:moveTo>
              </a:path>
            </a:pathLst>
          </a:custGeom>
          <a:noFill/>
          <a:ln w="9142" cap="flat" cmpd="sng">
            <a:solidFill>
              <a:srgbClr val="F4F5FA">
                <a:alpha val="100000"/>
              </a:srgbClr>
            </a:solidFill>
            <a:miter lim="1016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19001</TotalTime>
  <Words>1724</Words>
  <Application>Microsoft Office PowerPoint</Application>
  <PresentationFormat>Custom</PresentationFormat>
  <Paragraphs>166</Paragraphs>
  <Slides>18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TimesNewRomanPSMT</vt:lpstr>
      <vt:lpstr>Roboto</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SGDH-IT Thien.Dinh(丁德善)</dc:creator>
  <cp:lastModifiedBy>SGDH-IT DUC.THIEN</cp:lastModifiedBy>
  <cp:revision>261</cp:revision>
  <dcterms:modified xsi:type="dcterms:W3CDTF">2026-03-09T06:47:47Z</dcterms:modified>
</cp:coreProperties>
</file>