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6" r:id="rId2"/>
    <p:sldId id="284" r:id="rId3"/>
    <p:sldId id="269" r:id="rId4"/>
    <p:sldId id="285" r:id="rId5"/>
    <p:sldId id="257" r:id="rId6"/>
    <p:sldId id="286" r:id="rId7"/>
    <p:sldId id="287" r:id="rId8"/>
    <p:sldId id="288" r:id="rId9"/>
    <p:sldId id="289" r:id="rId10"/>
    <p:sldId id="290" r:id="rId11"/>
    <p:sldId id="291" r:id="rId12"/>
    <p:sldId id="292" r:id="rId13"/>
    <p:sldId id="295" r:id="rId14"/>
    <p:sldId id="296" r:id="rId15"/>
    <p:sldId id="298" r:id="rId16"/>
    <p:sldId id="293" r:id="rId17"/>
    <p:sldId id="294" r:id="rId18"/>
    <p:sldId id="299" r:id="rId19"/>
    <p:sldId id="268" r:id="rId20"/>
  </p:sldIdLst>
  <p:sldSz cx="10693400" cy="7556500"/>
  <p:notesSz cx="10693400" cy="7556500"/>
  <p:embeddedFontLst>
    <p:embeddedFont>
      <p:font typeface="Roboto" panose="02000000000000000000" pitchFamily="2" charset="0"/>
      <p:regular r:id="rId22"/>
      <p:bold r:id="rId23"/>
      <p:italic r:id="rId24"/>
      <p:boldItalic r:id="rId25"/>
    </p:embeddedFont>
    <p:embeddedFont>
      <p:font typeface="Tahoma" panose="020B0604030504040204" pitchFamily="34" charset="0"/>
      <p:regular r:id="rId26"/>
      <p:bold r:id="rId27"/>
    </p:embeddedFont>
    <p:embeddedFont>
      <p:font typeface="TimesNewRomanPSMT" panose="020B0604020202020204" charset="0"/>
      <p:regular r:id="rId28"/>
    </p:embeddedFont>
  </p:embeddedFontLst>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781" autoAdjust="0"/>
  </p:normalViewPr>
  <p:slideViewPr>
    <p:cSldViewPr snapToGrid="0">
      <p:cViewPr varScale="1">
        <p:scale>
          <a:sx n="106" d="100"/>
          <a:sy n="106" d="100"/>
        </p:scale>
        <p:origin x="97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43B2B1B-795E-4F31-8C1F-DA68188A211F}" type="datetimeFigureOut">
              <a:rPr lang="en-US" smtClean="0"/>
              <a:t>2026/03/07</a:t>
            </a:fld>
            <a:endParaRPr lang="en-US"/>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51B0A55C-C0BA-40BF-89AB-0996228E76C1}" type="slidenum">
              <a:rPr lang="en-US" smtClean="0"/>
              <a:t>‹#›</a:t>
            </a:fld>
            <a:endParaRPr lang="en-US"/>
          </a:p>
        </p:txBody>
      </p:sp>
    </p:spTree>
    <p:extLst>
      <p:ext uri="{BB962C8B-B14F-4D97-AF65-F5344CB8AC3E}">
        <p14:creationId xmlns:p14="http://schemas.microsoft.com/office/powerpoint/2010/main" val="277090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0A55C-C0BA-40BF-89AB-0996228E76C1}" type="slidenum">
              <a:rPr lang="en-US" smtClean="0"/>
              <a:t>12</a:t>
            </a:fld>
            <a:endParaRPr lang="en-US"/>
          </a:p>
        </p:txBody>
      </p:sp>
    </p:spTree>
    <p:extLst>
      <p:ext uri="{BB962C8B-B14F-4D97-AF65-F5344CB8AC3E}">
        <p14:creationId xmlns:p14="http://schemas.microsoft.com/office/powerpoint/2010/main" val="3487411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39C7A-6606-886F-88FF-FB20B2A39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4D5CD-5301-77C9-9252-CBC555257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B6662-7193-5A55-754A-5FB2D621A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6A641A-AE71-511C-C1C8-EE249F936C4D}"/>
              </a:ext>
            </a:extLst>
          </p:cNvPr>
          <p:cNvSpPr>
            <a:spLocks noGrp="1"/>
          </p:cNvSpPr>
          <p:nvPr>
            <p:ph type="sldNum" sz="quarter" idx="5"/>
          </p:nvPr>
        </p:nvSpPr>
        <p:spPr/>
        <p:txBody>
          <a:bodyPr/>
          <a:lstStyle/>
          <a:p>
            <a:fld id="{51B0A55C-C0BA-40BF-89AB-0996228E76C1}" type="slidenum">
              <a:rPr lang="en-US" smtClean="0"/>
              <a:t>16</a:t>
            </a:fld>
            <a:endParaRPr lang="en-US"/>
          </a:p>
        </p:txBody>
      </p:sp>
    </p:spTree>
    <p:extLst>
      <p:ext uri="{BB962C8B-B14F-4D97-AF65-F5344CB8AC3E}">
        <p14:creationId xmlns:p14="http://schemas.microsoft.com/office/powerpoint/2010/main" val="2904374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75E9E-BD0E-2B77-E1F3-80E4299E4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C3B4-4C0D-2AB0-83F2-352CD5526F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500453-8B67-10AB-3B7F-D189C925E1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977B95-3FA0-CDDA-8FFC-DBE42758CC55}"/>
              </a:ext>
            </a:extLst>
          </p:cNvPr>
          <p:cNvSpPr>
            <a:spLocks noGrp="1"/>
          </p:cNvSpPr>
          <p:nvPr>
            <p:ph type="sldNum" sz="quarter" idx="5"/>
          </p:nvPr>
        </p:nvSpPr>
        <p:spPr/>
        <p:txBody>
          <a:bodyPr/>
          <a:lstStyle/>
          <a:p>
            <a:fld id="{51B0A55C-C0BA-40BF-89AB-0996228E76C1}" type="slidenum">
              <a:rPr lang="en-US" smtClean="0"/>
              <a:t>17</a:t>
            </a:fld>
            <a:endParaRPr lang="en-US"/>
          </a:p>
        </p:txBody>
      </p:sp>
    </p:spTree>
    <p:extLst>
      <p:ext uri="{BB962C8B-B14F-4D97-AF65-F5344CB8AC3E}">
        <p14:creationId xmlns:p14="http://schemas.microsoft.com/office/powerpoint/2010/main" val="4080240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586C-C162-DBF1-50FF-DD530FCCC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F5F93-5383-9D79-CD0C-F559C7939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65782-EE9A-73D4-AA02-475655AF4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5FA352-0B15-CBF2-FAAA-1B7450524A48}"/>
              </a:ext>
            </a:extLst>
          </p:cNvPr>
          <p:cNvSpPr>
            <a:spLocks noGrp="1"/>
          </p:cNvSpPr>
          <p:nvPr>
            <p:ph type="sldNum" sz="quarter" idx="5"/>
          </p:nvPr>
        </p:nvSpPr>
        <p:spPr/>
        <p:txBody>
          <a:bodyPr/>
          <a:lstStyle/>
          <a:p>
            <a:fld id="{51B0A55C-C0BA-40BF-89AB-0996228E76C1}" type="slidenum">
              <a:rPr lang="en-US" smtClean="0"/>
              <a:t>18</a:t>
            </a:fld>
            <a:endParaRPr lang="en-US"/>
          </a:p>
        </p:txBody>
      </p:sp>
    </p:spTree>
    <p:extLst>
      <p:ext uri="{BB962C8B-B14F-4D97-AF65-F5344CB8AC3E}">
        <p14:creationId xmlns:p14="http://schemas.microsoft.com/office/powerpoint/2010/main" val="2679850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1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 y="0"/>
            <a:ext cx="10692383" cy="7556500"/>
          </a:xfrm>
          <a:prstGeom prst="rect">
            <a:avLst/>
          </a:prstGeom>
          <a:noFill/>
        </p:spPr>
      </p:pic>
      <p:pic>
        <p:nvPicPr>
          <p:cNvPr id="101" name="Picture 10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896153" y="6840415"/>
            <a:ext cx="728940" cy="654187"/>
          </a:xfrm>
          <a:prstGeom prst="rect">
            <a:avLst/>
          </a:prstGeom>
          <a:noFill/>
        </p:spPr>
      </p:pic>
      <p:sp>
        <p:nvSpPr>
          <p:cNvPr id="105" name="Rectangle 105"/>
          <p:cNvSpPr/>
          <p:nvPr/>
        </p:nvSpPr>
        <p:spPr>
          <a:xfrm>
            <a:off x="2124153" y="521178"/>
            <a:ext cx="6444072" cy="369332"/>
          </a:xfrm>
          <a:prstGeom prst="rect">
            <a:avLst/>
          </a:prstGeom>
        </p:spPr>
        <p:txBody>
          <a:bodyPr wrap="none" lIns="0" tIns="0" rIns="0" bIns="0">
            <a:spAutoFit/>
          </a:bodyPr>
          <a:lstStyle/>
          <a:p>
            <a:pPr marL="0"/>
            <a:r>
              <a:rPr lang="en-US" sz="2400" dirty="0"/>
              <a:t>Docker + install-script method for Ubuntu 22.04</a:t>
            </a:r>
          </a:p>
        </p:txBody>
      </p:sp>
      <p:sp>
        <p:nvSpPr>
          <p:cNvPr id="2" name="Rectangle 105">
            <a:extLst>
              <a:ext uri="{FF2B5EF4-FFF2-40B4-BE49-F238E27FC236}">
                <a16:creationId xmlns:a16="http://schemas.microsoft.com/office/drawing/2014/main" id="{1AB92A74-C534-7821-4590-C9B9F1766ECE}"/>
              </a:ext>
            </a:extLst>
          </p:cNvPr>
          <p:cNvSpPr/>
          <p:nvPr/>
        </p:nvSpPr>
        <p:spPr>
          <a:xfrm>
            <a:off x="6671771" y="7116876"/>
            <a:ext cx="3157093" cy="369332"/>
          </a:xfrm>
          <a:prstGeom prst="rect">
            <a:avLst/>
          </a:prstGeom>
        </p:spPr>
        <p:txBody>
          <a:bodyPr wrap="square" lIns="0" tIns="0" rIns="0" bIns="0">
            <a:spAutoFit/>
          </a:bodyPr>
          <a:lstStyle/>
          <a:p>
            <a:pPr marL="0"/>
            <a:r>
              <a:rPr lang="en-US" sz="2400" dirty="0" err="1"/>
              <a:t>Thien.dinh</a:t>
            </a:r>
            <a:r>
              <a:rPr lang="en-US" sz="2400" dirty="0"/>
              <a:t> </a:t>
            </a:r>
            <a:r>
              <a:rPr lang="zh-CN" altLang="en-US" sz="2400" dirty="0"/>
              <a:t>（丁德善</a:t>
            </a:r>
            <a:r>
              <a:rPr lang="en-US" sz="2400" dirty="0"/>
              <a:t> </a:t>
            </a:r>
            <a:r>
              <a:rPr lang="zh-CN" altLang="en-US" sz="2400" dirty="0"/>
              <a:t>）</a:t>
            </a:r>
            <a:endParaRPr lang="en-US" sz="2400" dirty="0"/>
          </a:p>
        </p:txBody>
      </p:sp>
      <p:sp>
        <p:nvSpPr>
          <p:cNvPr id="4" name="TextBox 3">
            <a:extLst>
              <a:ext uri="{FF2B5EF4-FFF2-40B4-BE49-F238E27FC236}">
                <a16:creationId xmlns:a16="http://schemas.microsoft.com/office/drawing/2014/main" id="{6F57D005-AA70-FBBF-B2FE-0F35A0269425}"/>
              </a:ext>
            </a:extLst>
          </p:cNvPr>
          <p:cNvSpPr txBox="1"/>
          <p:nvPr/>
        </p:nvSpPr>
        <p:spPr>
          <a:xfrm>
            <a:off x="6068470" y="909790"/>
            <a:ext cx="4624930" cy="369332"/>
          </a:xfrm>
          <a:prstGeom prst="rect">
            <a:avLst/>
          </a:prstGeom>
          <a:noFill/>
        </p:spPr>
        <p:txBody>
          <a:bodyPr wrap="square">
            <a:spAutoFit/>
          </a:bodyPr>
          <a:lstStyle/>
          <a:p>
            <a:r>
              <a:rPr lang="en-US" dirty="0"/>
              <a:t>Read more information: https://wazuh.com/</a:t>
            </a:r>
          </a:p>
        </p:txBody>
      </p:sp>
      <p:sp>
        <p:nvSpPr>
          <p:cNvPr id="3" name="Rectangle 105">
            <a:extLst>
              <a:ext uri="{FF2B5EF4-FFF2-40B4-BE49-F238E27FC236}">
                <a16:creationId xmlns:a16="http://schemas.microsoft.com/office/drawing/2014/main" id="{A3233735-87E0-47CE-26BF-6B4C14FEC397}"/>
              </a:ext>
            </a:extLst>
          </p:cNvPr>
          <p:cNvSpPr/>
          <p:nvPr/>
        </p:nvSpPr>
        <p:spPr>
          <a:xfrm>
            <a:off x="934901" y="113287"/>
            <a:ext cx="2943113" cy="369332"/>
          </a:xfrm>
          <a:prstGeom prst="rect">
            <a:avLst/>
          </a:prstGeom>
        </p:spPr>
        <p:txBody>
          <a:bodyPr wrap="none" lIns="0" tIns="0" rIns="0" bIns="0">
            <a:spAutoFit/>
          </a:bodyPr>
          <a:lstStyle/>
          <a:p>
            <a:pPr marL="0"/>
            <a:r>
              <a:rPr lang="en-US" sz="2400" dirty="0"/>
              <a:t>Setup </a:t>
            </a:r>
            <a:r>
              <a:rPr lang="en-US" sz="2400" dirty="0" err="1"/>
              <a:t>Wazuh</a:t>
            </a:r>
            <a:r>
              <a:rPr lang="en-US" sz="2400" dirty="0"/>
              <a:t> v4.14.3</a:t>
            </a:r>
          </a:p>
        </p:txBody>
      </p:sp>
      <p:pic>
        <p:nvPicPr>
          <p:cNvPr id="6" name="Picture 5">
            <a:extLst>
              <a:ext uri="{FF2B5EF4-FFF2-40B4-BE49-F238E27FC236}">
                <a16:creationId xmlns:a16="http://schemas.microsoft.com/office/drawing/2014/main" id="{D15F0210-00AB-6A8B-EECD-516A0B7DE33F}"/>
              </a:ext>
            </a:extLst>
          </p:cNvPr>
          <p:cNvPicPr>
            <a:picLocks noChangeAspect="1"/>
          </p:cNvPicPr>
          <p:nvPr/>
        </p:nvPicPr>
        <p:blipFill>
          <a:blip r:embed="rId4"/>
          <a:stretch>
            <a:fillRect/>
          </a:stretch>
        </p:blipFill>
        <p:spPr>
          <a:xfrm>
            <a:off x="82617" y="1298402"/>
            <a:ext cx="10527145" cy="55420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8DEBE-CC6C-648F-7B97-31A0252DB154}"/>
            </a:ext>
          </a:extLst>
        </p:cNvPr>
        <p:cNvGrpSpPr/>
        <p:nvPr/>
      </p:nvGrpSpPr>
      <p:grpSpPr>
        <a:xfrm>
          <a:off x="0" y="0"/>
          <a:ext cx="0" cy="0"/>
          <a:chOff x="0" y="0"/>
          <a:chExt cx="0" cy="0"/>
        </a:xfrm>
      </p:grpSpPr>
      <p:pic>
        <p:nvPicPr>
          <p:cNvPr id="100" name="Picture 100">
            <a:extLst>
              <a:ext uri="{FF2B5EF4-FFF2-40B4-BE49-F238E27FC236}">
                <a16:creationId xmlns:a16="http://schemas.microsoft.com/office/drawing/2014/main" id="{172C19B0-2437-FFCF-027E-C56BF04361B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 y="0"/>
            <a:ext cx="10692383" cy="7556500"/>
          </a:xfrm>
          <a:prstGeom prst="rect">
            <a:avLst/>
          </a:prstGeom>
          <a:noFill/>
        </p:spPr>
      </p:pic>
      <p:pic>
        <p:nvPicPr>
          <p:cNvPr id="101" name="Picture 101">
            <a:extLst>
              <a:ext uri="{FF2B5EF4-FFF2-40B4-BE49-F238E27FC236}">
                <a16:creationId xmlns:a16="http://schemas.microsoft.com/office/drawing/2014/main" id="{9B5D7AAE-9E90-01D5-5CEE-B07E385C60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896153" y="6708619"/>
            <a:ext cx="728940" cy="785984"/>
          </a:xfrm>
          <a:prstGeom prst="rect">
            <a:avLst/>
          </a:prstGeom>
          <a:noFill/>
        </p:spPr>
      </p:pic>
      <p:sp>
        <p:nvSpPr>
          <p:cNvPr id="2" name="Rectangle 105">
            <a:extLst>
              <a:ext uri="{FF2B5EF4-FFF2-40B4-BE49-F238E27FC236}">
                <a16:creationId xmlns:a16="http://schemas.microsoft.com/office/drawing/2014/main" id="{9B13BD8A-71C2-0931-91AD-BA91B18A605A}"/>
              </a:ext>
            </a:extLst>
          </p:cNvPr>
          <p:cNvSpPr/>
          <p:nvPr/>
        </p:nvSpPr>
        <p:spPr>
          <a:xfrm>
            <a:off x="6671771" y="7116876"/>
            <a:ext cx="3157093" cy="369332"/>
          </a:xfrm>
          <a:prstGeom prst="rect">
            <a:avLst/>
          </a:prstGeom>
        </p:spPr>
        <p:txBody>
          <a:bodyPr wrap="square" lIns="0" tIns="0" rIns="0" bIns="0">
            <a:spAutoFit/>
          </a:bodyPr>
          <a:lstStyle/>
          <a:p>
            <a:pPr marL="0"/>
            <a:r>
              <a:rPr lang="en-US" sz="2400" dirty="0" err="1"/>
              <a:t>Thien.dinh</a:t>
            </a:r>
            <a:r>
              <a:rPr lang="en-US" sz="2400" dirty="0"/>
              <a:t> </a:t>
            </a:r>
            <a:r>
              <a:rPr lang="zh-CN" altLang="en-US" sz="2400" dirty="0"/>
              <a:t>（丁德善</a:t>
            </a:r>
            <a:r>
              <a:rPr lang="en-US" sz="2400" dirty="0"/>
              <a:t> </a:t>
            </a:r>
            <a:r>
              <a:rPr lang="zh-CN" altLang="en-US" sz="2400" dirty="0"/>
              <a:t>）</a:t>
            </a:r>
            <a:endParaRPr lang="en-US" sz="2400" dirty="0"/>
          </a:p>
        </p:txBody>
      </p:sp>
      <p:sp>
        <p:nvSpPr>
          <p:cNvPr id="4" name="TextBox 3">
            <a:extLst>
              <a:ext uri="{FF2B5EF4-FFF2-40B4-BE49-F238E27FC236}">
                <a16:creationId xmlns:a16="http://schemas.microsoft.com/office/drawing/2014/main" id="{D217066F-5D69-14DE-6D02-D5DB6847A1D5}"/>
              </a:ext>
            </a:extLst>
          </p:cNvPr>
          <p:cNvSpPr txBox="1"/>
          <p:nvPr/>
        </p:nvSpPr>
        <p:spPr>
          <a:xfrm>
            <a:off x="5442439" y="5462295"/>
            <a:ext cx="7439799" cy="369332"/>
          </a:xfrm>
          <a:prstGeom prst="rect">
            <a:avLst/>
          </a:prstGeom>
          <a:noFill/>
        </p:spPr>
        <p:txBody>
          <a:bodyPr wrap="square">
            <a:spAutoFit/>
          </a:bodyPr>
          <a:lstStyle/>
          <a:p>
            <a:r>
              <a:rPr lang="en-US" dirty="0"/>
              <a:t>Read more information: https://wazuh.com/</a:t>
            </a:r>
          </a:p>
        </p:txBody>
      </p:sp>
      <p:sp>
        <p:nvSpPr>
          <p:cNvPr id="3" name="Rectangle 105">
            <a:extLst>
              <a:ext uri="{FF2B5EF4-FFF2-40B4-BE49-F238E27FC236}">
                <a16:creationId xmlns:a16="http://schemas.microsoft.com/office/drawing/2014/main" id="{87C74F94-BEFA-1AA8-BE99-714165106211}"/>
              </a:ext>
            </a:extLst>
          </p:cNvPr>
          <p:cNvSpPr/>
          <p:nvPr/>
        </p:nvSpPr>
        <p:spPr>
          <a:xfrm>
            <a:off x="825823" y="646441"/>
            <a:ext cx="4397038" cy="369332"/>
          </a:xfrm>
          <a:prstGeom prst="rect">
            <a:avLst/>
          </a:prstGeom>
        </p:spPr>
        <p:txBody>
          <a:bodyPr wrap="none" lIns="0" tIns="0" rIns="0" bIns="0">
            <a:spAutoFit/>
          </a:bodyPr>
          <a:lstStyle/>
          <a:p>
            <a:pPr marL="0"/>
            <a:r>
              <a:rPr lang="en-US" sz="2400" dirty="0"/>
              <a:t>Server Requirements / </a:t>
            </a:r>
            <a:r>
              <a:rPr lang="zh-CN" altLang="en-US" sz="2400" dirty="0"/>
              <a:t>系統需求</a:t>
            </a:r>
            <a:endParaRPr lang="en-US" sz="2400" b="0" i="0" spc="0" baseline="0" dirty="0">
              <a:solidFill>
                <a:srgbClr val="0000FF"/>
              </a:solidFill>
              <a:latin typeface="TimesNewRomanPSMT"/>
            </a:endParaRPr>
          </a:p>
        </p:txBody>
      </p:sp>
      <p:sp>
        <p:nvSpPr>
          <p:cNvPr id="6" name="TextBox 5">
            <a:extLst>
              <a:ext uri="{FF2B5EF4-FFF2-40B4-BE49-F238E27FC236}">
                <a16:creationId xmlns:a16="http://schemas.microsoft.com/office/drawing/2014/main" id="{68C414DB-03A0-3EB3-1296-86B53C66A316}"/>
              </a:ext>
            </a:extLst>
          </p:cNvPr>
          <p:cNvSpPr txBox="1"/>
          <p:nvPr/>
        </p:nvSpPr>
        <p:spPr>
          <a:xfrm>
            <a:off x="1626576" y="1662213"/>
            <a:ext cx="3053095" cy="1477328"/>
          </a:xfrm>
          <a:prstGeom prst="rect">
            <a:avLst/>
          </a:prstGeom>
          <a:noFill/>
        </p:spPr>
        <p:txBody>
          <a:bodyPr wrap="square">
            <a:spAutoFit/>
          </a:bodyPr>
          <a:lstStyle/>
          <a:p>
            <a:endParaRPr lang="en-US" b="0" i="0" dirty="0">
              <a:solidFill>
                <a:srgbClr val="3C4043"/>
              </a:solidFill>
              <a:effectLst/>
              <a:latin typeface="Roboto" panose="02000000000000000000" pitchFamily="2" charset="0"/>
            </a:endParaRPr>
          </a:p>
          <a:p>
            <a:r>
              <a:rPr lang="en-US" b="0" i="0" dirty="0">
                <a:solidFill>
                  <a:srgbClr val="3C4043"/>
                </a:solidFill>
                <a:effectLst/>
                <a:latin typeface="Roboto" panose="02000000000000000000" pitchFamily="2" charset="0"/>
              </a:rPr>
              <a:t>OS: Ubuntu 22.04 </a:t>
            </a:r>
          </a:p>
          <a:p>
            <a:r>
              <a:rPr lang="en-US" b="0" i="0" dirty="0">
                <a:solidFill>
                  <a:srgbClr val="3C4043"/>
                </a:solidFill>
                <a:effectLst/>
                <a:latin typeface="Roboto" panose="02000000000000000000" pitchFamily="2" charset="0"/>
              </a:rPr>
              <a:t>CPU: 4 Cores. </a:t>
            </a:r>
          </a:p>
          <a:p>
            <a:r>
              <a:rPr lang="en-US" b="0" i="0" dirty="0">
                <a:solidFill>
                  <a:srgbClr val="3C4043"/>
                </a:solidFill>
                <a:effectLst/>
                <a:latin typeface="Roboto" panose="02000000000000000000" pitchFamily="2" charset="0"/>
              </a:rPr>
              <a:t>RAM: </a:t>
            </a:r>
            <a:r>
              <a:rPr lang="en-US" dirty="0">
                <a:solidFill>
                  <a:srgbClr val="3C4043"/>
                </a:solidFill>
                <a:latin typeface="Roboto" panose="02000000000000000000" pitchFamily="2" charset="0"/>
              </a:rPr>
              <a:t>16</a:t>
            </a:r>
            <a:r>
              <a:rPr lang="en-US" b="0" i="0" dirty="0">
                <a:solidFill>
                  <a:srgbClr val="3C4043"/>
                </a:solidFill>
                <a:effectLst/>
                <a:latin typeface="Roboto" panose="02000000000000000000" pitchFamily="2" charset="0"/>
              </a:rPr>
              <a:t>GB (Minimum). </a:t>
            </a:r>
          </a:p>
          <a:p>
            <a:r>
              <a:rPr lang="en-US" b="0" i="0" dirty="0">
                <a:solidFill>
                  <a:srgbClr val="3C4043"/>
                </a:solidFill>
                <a:effectLst/>
                <a:latin typeface="Roboto" panose="02000000000000000000" pitchFamily="2" charset="0"/>
              </a:rPr>
              <a:t>Disk: 5</a:t>
            </a:r>
            <a:r>
              <a:rPr lang="en-US" dirty="0">
                <a:solidFill>
                  <a:srgbClr val="3C4043"/>
                </a:solidFill>
                <a:latin typeface="Roboto" panose="02000000000000000000" pitchFamily="2" charset="0"/>
              </a:rPr>
              <a:t>00</a:t>
            </a:r>
            <a:r>
              <a:rPr lang="en-US" b="0" i="0" dirty="0">
                <a:solidFill>
                  <a:srgbClr val="3C4043"/>
                </a:solidFill>
                <a:effectLst/>
                <a:latin typeface="Roboto" panose="02000000000000000000" pitchFamily="2" charset="0"/>
              </a:rPr>
              <a:t>GB  or larger.</a:t>
            </a:r>
            <a:endParaRPr lang="en-US" dirty="0"/>
          </a:p>
        </p:txBody>
      </p:sp>
      <p:pic>
        <p:nvPicPr>
          <p:cNvPr id="10" name="Picture 9">
            <a:extLst>
              <a:ext uri="{FF2B5EF4-FFF2-40B4-BE49-F238E27FC236}">
                <a16:creationId xmlns:a16="http://schemas.microsoft.com/office/drawing/2014/main" id="{F9CC511D-7122-0514-4EE4-7B07B9632A3D}"/>
              </a:ext>
            </a:extLst>
          </p:cNvPr>
          <p:cNvPicPr>
            <a:picLocks noChangeAspect="1"/>
          </p:cNvPicPr>
          <p:nvPr/>
        </p:nvPicPr>
        <p:blipFill>
          <a:blip r:embed="rId4"/>
          <a:stretch>
            <a:fillRect/>
          </a:stretch>
        </p:blipFill>
        <p:spPr>
          <a:xfrm>
            <a:off x="4679671" y="1317109"/>
            <a:ext cx="5580952" cy="3438095"/>
          </a:xfrm>
          <a:prstGeom prst="rect">
            <a:avLst/>
          </a:prstGeom>
        </p:spPr>
      </p:pic>
    </p:spTree>
    <p:extLst>
      <p:ext uri="{BB962C8B-B14F-4D97-AF65-F5344CB8AC3E}">
        <p14:creationId xmlns:p14="http://schemas.microsoft.com/office/powerpoint/2010/main" val="440580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B16A-9280-F089-4EFF-D55C66F27365}"/>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A6D44AB3-B370-33EF-91C9-A8A2610E3B9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0460E886-123D-7755-2A34-233B199E5BE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1CDACD2F-0AFD-C913-6566-6A8C9D1CC12C}"/>
              </a:ext>
            </a:extLst>
          </p:cNvPr>
          <p:cNvSpPr/>
          <p:nvPr/>
        </p:nvSpPr>
        <p:spPr>
          <a:xfrm>
            <a:off x="289426" y="174315"/>
            <a:ext cx="7957307" cy="615553"/>
          </a:xfrm>
          <a:prstGeom prst="rect">
            <a:avLst/>
          </a:prstGeom>
        </p:spPr>
        <p:txBody>
          <a:bodyPr wrap="none" lIns="0" tIns="0" rIns="0" bIns="0">
            <a:spAutoFit/>
          </a:bodyPr>
          <a:lstStyle/>
          <a:p>
            <a:pPr marL="0"/>
            <a:r>
              <a:rPr lang="en-US" sz="4000" dirty="0"/>
              <a:t>I. Install Docker &amp; docker-compose</a:t>
            </a:r>
            <a:endParaRPr lang="en-US" sz="3863" b="0" i="0" spc="0" baseline="0" dirty="0">
              <a:solidFill>
                <a:srgbClr val="0000FF"/>
              </a:solidFill>
              <a:latin typeface="TimesNewRomanPSMT"/>
            </a:endParaRPr>
          </a:p>
        </p:txBody>
      </p:sp>
      <p:sp>
        <p:nvSpPr>
          <p:cNvPr id="4" name="TextBox 3">
            <a:extLst>
              <a:ext uri="{FF2B5EF4-FFF2-40B4-BE49-F238E27FC236}">
                <a16:creationId xmlns:a16="http://schemas.microsoft.com/office/drawing/2014/main" id="{6614EC72-145B-903B-FDD1-9CDE19EC4346}"/>
              </a:ext>
            </a:extLst>
          </p:cNvPr>
          <p:cNvSpPr txBox="1"/>
          <p:nvPr/>
        </p:nvSpPr>
        <p:spPr>
          <a:xfrm>
            <a:off x="289426" y="1153943"/>
            <a:ext cx="10163908" cy="369332"/>
          </a:xfrm>
          <a:prstGeom prst="rect">
            <a:avLst/>
          </a:prstGeom>
          <a:noFill/>
        </p:spPr>
        <p:txBody>
          <a:bodyPr wrap="square">
            <a:spAutoFit/>
          </a:bodyPr>
          <a:lstStyle/>
          <a:p>
            <a:r>
              <a:rPr lang="en-US" dirty="0" err="1"/>
              <a:t>wget</a:t>
            </a:r>
            <a:r>
              <a:rPr lang="en-US" dirty="0"/>
              <a:t> https://raw.githubusercontent.com/ddthien-coder/idocker-ubuntu/refs/heads/develop/IDOU.sh</a:t>
            </a:r>
          </a:p>
        </p:txBody>
      </p:sp>
      <p:sp>
        <p:nvSpPr>
          <p:cNvPr id="5" name="TextBox 4">
            <a:extLst>
              <a:ext uri="{FF2B5EF4-FFF2-40B4-BE49-F238E27FC236}">
                <a16:creationId xmlns:a16="http://schemas.microsoft.com/office/drawing/2014/main" id="{DB40CEA8-7257-8C2C-0F06-E19C6EFF8169}"/>
              </a:ext>
            </a:extLst>
          </p:cNvPr>
          <p:cNvSpPr txBox="1"/>
          <p:nvPr/>
        </p:nvSpPr>
        <p:spPr>
          <a:xfrm>
            <a:off x="408951" y="838565"/>
            <a:ext cx="10163908" cy="369332"/>
          </a:xfrm>
          <a:prstGeom prst="rect">
            <a:avLst/>
          </a:prstGeom>
          <a:noFill/>
        </p:spPr>
        <p:txBody>
          <a:bodyPr wrap="square">
            <a:spAutoFit/>
          </a:bodyPr>
          <a:lstStyle/>
          <a:p>
            <a:r>
              <a:rPr lang="en-US" dirty="0"/>
              <a:t>1. Download file install.sh</a:t>
            </a:r>
          </a:p>
        </p:txBody>
      </p:sp>
      <p:pic>
        <p:nvPicPr>
          <p:cNvPr id="8" name="Picture 7">
            <a:extLst>
              <a:ext uri="{FF2B5EF4-FFF2-40B4-BE49-F238E27FC236}">
                <a16:creationId xmlns:a16="http://schemas.microsoft.com/office/drawing/2014/main" id="{E9ADEC45-8585-B12E-E0F3-0D803EE9D014}"/>
              </a:ext>
            </a:extLst>
          </p:cNvPr>
          <p:cNvPicPr>
            <a:picLocks noChangeAspect="1"/>
          </p:cNvPicPr>
          <p:nvPr/>
        </p:nvPicPr>
        <p:blipFill>
          <a:blip r:embed="rId4"/>
          <a:stretch>
            <a:fillRect/>
          </a:stretch>
        </p:blipFill>
        <p:spPr>
          <a:xfrm>
            <a:off x="632326" y="1997765"/>
            <a:ext cx="9190476" cy="2342857"/>
          </a:xfrm>
          <a:prstGeom prst="rect">
            <a:avLst/>
          </a:prstGeom>
        </p:spPr>
      </p:pic>
      <p:sp>
        <p:nvSpPr>
          <p:cNvPr id="9" name="TextBox 8">
            <a:extLst>
              <a:ext uri="{FF2B5EF4-FFF2-40B4-BE49-F238E27FC236}">
                <a16:creationId xmlns:a16="http://schemas.microsoft.com/office/drawing/2014/main" id="{6C3DFB2E-C320-C7A6-2E75-5EB5FC073641}"/>
              </a:ext>
            </a:extLst>
          </p:cNvPr>
          <p:cNvSpPr txBox="1"/>
          <p:nvPr/>
        </p:nvSpPr>
        <p:spPr>
          <a:xfrm>
            <a:off x="408951" y="1628433"/>
            <a:ext cx="10163908" cy="369332"/>
          </a:xfrm>
          <a:prstGeom prst="rect">
            <a:avLst/>
          </a:prstGeom>
          <a:noFill/>
        </p:spPr>
        <p:txBody>
          <a:bodyPr wrap="square">
            <a:spAutoFit/>
          </a:bodyPr>
          <a:lstStyle/>
          <a:p>
            <a:r>
              <a:rPr lang="en-US" dirty="0"/>
              <a:t>2. Add permission for script and run file</a:t>
            </a:r>
          </a:p>
        </p:txBody>
      </p:sp>
      <p:pic>
        <p:nvPicPr>
          <p:cNvPr id="11" name="Picture 10">
            <a:extLst>
              <a:ext uri="{FF2B5EF4-FFF2-40B4-BE49-F238E27FC236}">
                <a16:creationId xmlns:a16="http://schemas.microsoft.com/office/drawing/2014/main" id="{433F9665-D5A8-CCBC-1C12-C51F7D961AAA}"/>
              </a:ext>
            </a:extLst>
          </p:cNvPr>
          <p:cNvPicPr>
            <a:picLocks noChangeAspect="1"/>
          </p:cNvPicPr>
          <p:nvPr/>
        </p:nvPicPr>
        <p:blipFill>
          <a:blip r:embed="rId5"/>
          <a:stretch>
            <a:fillRect/>
          </a:stretch>
        </p:blipFill>
        <p:spPr>
          <a:xfrm>
            <a:off x="632326" y="4346976"/>
            <a:ext cx="9190476" cy="3209524"/>
          </a:xfrm>
          <a:prstGeom prst="rect">
            <a:avLst/>
          </a:prstGeom>
        </p:spPr>
      </p:pic>
    </p:spTree>
    <p:extLst>
      <p:ext uri="{BB962C8B-B14F-4D97-AF65-F5344CB8AC3E}">
        <p14:creationId xmlns:p14="http://schemas.microsoft.com/office/powerpoint/2010/main" val="2615999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EE59-64F4-54BB-F208-B805CF940520}"/>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6AFD5DBC-8642-6CD8-BE1C-DDE0D4B8023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EA5379E5-A107-FFF6-CCF9-D2C2EC7EDA5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5AE511F2-DAC2-654D-B4AE-B690CCE57B0E}"/>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3" name="TextBox 2">
            <a:extLst>
              <a:ext uri="{FF2B5EF4-FFF2-40B4-BE49-F238E27FC236}">
                <a16:creationId xmlns:a16="http://schemas.microsoft.com/office/drawing/2014/main" id="{E9564AFC-7F1B-9B6A-6037-4D0E34F3F1AD}"/>
              </a:ext>
            </a:extLst>
          </p:cNvPr>
          <p:cNvSpPr txBox="1"/>
          <p:nvPr/>
        </p:nvSpPr>
        <p:spPr>
          <a:xfrm>
            <a:off x="1103364" y="1101307"/>
            <a:ext cx="6712926"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git clone https://github.com/wazuh/wazuh-docker.git -b v4.14.3</a:t>
            </a:r>
          </a:p>
        </p:txBody>
      </p:sp>
      <p:pic>
        <p:nvPicPr>
          <p:cNvPr id="5" name="Picture 4">
            <a:extLst>
              <a:ext uri="{FF2B5EF4-FFF2-40B4-BE49-F238E27FC236}">
                <a16:creationId xmlns:a16="http://schemas.microsoft.com/office/drawing/2014/main" id="{423604D2-B555-A54F-D75C-937CE9523DEE}"/>
              </a:ext>
            </a:extLst>
          </p:cNvPr>
          <p:cNvPicPr>
            <a:picLocks noChangeAspect="1"/>
          </p:cNvPicPr>
          <p:nvPr/>
        </p:nvPicPr>
        <p:blipFill>
          <a:blip r:embed="rId4"/>
          <a:stretch>
            <a:fillRect/>
          </a:stretch>
        </p:blipFill>
        <p:spPr>
          <a:xfrm>
            <a:off x="1103364" y="1568645"/>
            <a:ext cx="8819048" cy="5857143"/>
          </a:xfrm>
          <a:prstGeom prst="rect">
            <a:avLst/>
          </a:prstGeom>
        </p:spPr>
      </p:pic>
      <p:sp>
        <p:nvSpPr>
          <p:cNvPr id="7" name="TextBox 6">
            <a:extLst>
              <a:ext uri="{FF2B5EF4-FFF2-40B4-BE49-F238E27FC236}">
                <a16:creationId xmlns:a16="http://schemas.microsoft.com/office/drawing/2014/main" id="{EFF8D581-6AF6-08C7-52C9-7A03722EECA9}"/>
              </a:ext>
            </a:extLst>
          </p:cNvPr>
          <p:cNvSpPr txBox="1"/>
          <p:nvPr/>
        </p:nvSpPr>
        <p:spPr>
          <a:xfrm>
            <a:off x="605423" y="789868"/>
            <a:ext cx="6712926" cy="369332"/>
          </a:xfrm>
          <a:prstGeom prst="rect">
            <a:avLst/>
          </a:prstGeom>
          <a:noFill/>
        </p:spPr>
        <p:txBody>
          <a:bodyPr wrap="square">
            <a:spAutoFit/>
          </a:bodyPr>
          <a:lstStyle/>
          <a:p>
            <a:r>
              <a:rPr lang="en-US" dirty="0"/>
              <a:t>1. Download folder</a:t>
            </a:r>
          </a:p>
        </p:txBody>
      </p:sp>
    </p:spTree>
    <p:extLst>
      <p:ext uri="{BB962C8B-B14F-4D97-AF65-F5344CB8AC3E}">
        <p14:creationId xmlns:p14="http://schemas.microsoft.com/office/powerpoint/2010/main" val="9291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Picture 1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3" name="TextBox 2">
            <a:extLst>
              <a:ext uri="{FF2B5EF4-FFF2-40B4-BE49-F238E27FC236}">
                <a16:creationId xmlns:a16="http://schemas.microsoft.com/office/drawing/2014/main" id="{D437BAF8-4511-8261-F338-6D0A80D49CD2}"/>
              </a:ext>
            </a:extLst>
          </p:cNvPr>
          <p:cNvSpPr txBox="1"/>
          <p:nvPr/>
        </p:nvSpPr>
        <p:spPr>
          <a:xfrm>
            <a:off x="1419887" y="1101307"/>
            <a:ext cx="6712926"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err="1"/>
              <a:t>sudo</a:t>
            </a:r>
            <a:r>
              <a:rPr lang="en-US" dirty="0"/>
              <a:t> </a:t>
            </a:r>
            <a:r>
              <a:rPr lang="en-US" dirty="0" err="1"/>
              <a:t>sysctl</a:t>
            </a:r>
            <a:r>
              <a:rPr lang="en-US" dirty="0"/>
              <a:t> -w </a:t>
            </a:r>
            <a:r>
              <a:rPr lang="en-US" dirty="0" err="1"/>
              <a:t>vm.max_map_count</a:t>
            </a:r>
            <a:r>
              <a:rPr lang="en-US" dirty="0"/>
              <a:t>=262144</a:t>
            </a:r>
          </a:p>
        </p:txBody>
      </p:sp>
      <p:sp>
        <p:nvSpPr>
          <p:cNvPr id="7" name="TextBox 6">
            <a:extLst>
              <a:ext uri="{FF2B5EF4-FFF2-40B4-BE49-F238E27FC236}">
                <a16:creationId xmlns:a16="http://schemas.microsoft.com/office/drawing/2014/main" id="{F535E2D0-202D-C108-09E9-DA6251389F2C}"/>
              </a:ext>
            </a:extLst>
          </p:cNvPr>
          <p:cNvSpPr txBox="1"/>
          <p:nvPr/>
        </p:nvSpPr>
        <p:spPr>
          <a:xfrm>
            <a:off x="940402" y="806132"/>
            <a:ext cx="6712926" cy="369332"/>
          </a:xfrm>
          <a:prstGeom prst="rect">
            <a:avLst/>
          </a:prstGeom>
          <a:noFill/>
        </p:spPr>
        <p:txBody>
          <a:bodyPr wrap="square">
            <a:spAutoFit/>
          </a:bodyPr>
          <a:lstStyle/>
          <a:p>
            <a:r>
              <a:rPr lang="en-US" dirty="0"/>
              <a:t>2. Max Map Count</a:t>
            </a:r>
          </a:p>
        </p:txBody>
      </p:sp>
      <p:pic>
        <p:nvPicPr>
          <p:cNvPr id="11" name="Picture 10">
            <a:extLst>
              <a:ext uri="{FF2B5EF4-FFF2-40B4-BE49-F238E27FC236}">
                <a16:creationId xmlns:a16="http://schemas.microsoft.com/office/drawing/2014/main" id="{E2CCF00C-02B1-E5AB-7A54-F94A02F5C6D0}"/>
              </a:ext>
            </a:extLst>
          </p:cNvPr>
          <p:cNvPicPr>
            <a:picLocks noChangeAspect="1"/>
          </p:cNvPicPr>
          <p:nvPr/>
        </p:nvPicPr>
        <p:blipFill>
          <a:blip r:embed="rId4"/>
          <a:stretch>
            <a:fillRect/>
          </a:stretch>
        </p:blipFill>
        <p:spPr>
          <a:xfrm>
            <a:off x="1537563" y="1544077"/>
            <a:ext cx="7952381" cy="971429"/>
          </a:xfrm>
          <a:prstGeom prst="rect">
            <a:avLst/>
          </a:prstGeom>
        </p:spPr>
      </p:pic>
      <p:sp>
        <p:nvSpPr>
          <p:cNvPr id="12" name="TextBox 11">
            <a:extLst>
              <a:ext uri="{FF2B5EF4-FFF2-40B4-BE49-F238E27FC236}">
                <a16:creationId xmlns:a16="http://schemas.microsoft.com/office/drawing/2014/main" id="{223AE024-CA39-28B2-92DA-698D7CE19F4E}"/>
              </a:ext>
            </a:extLst>
          </p:cNvPr>
          <p:cNvSpPr txBox="1"/>
          <p:nvPr/>
        </p:nvSpPr>
        <p:spPr>
          <a:xfrm>
            <a:off x="1058097" y="2695882"/>
            <a:ext cx="6712926" cy="369332"/>
          </a:xfrm>
          <a:prstGeom prst="rect">
            <a:avLst/>
          </a:prstGeom>
          <a:noFill/>
        </p:spPr>
        <p:txBody>
          <a:bodyPr wrap="square">
            <a:spAutoFit/>
          </a:bodyPr>
          <a:lstStyle/>
          <a:p>
            <a:r>
              <a:rPr lang="en-US" dirty="0"/>
              <a:t>3. Install </a:t>
            </a:r>
            <a:r>
              <a:rPr lang="en-US" dirty="0" err="1"/>
              <a:t>wazuh</a:t>
            </a:r>
            <a:r>
              <a:rPr lang="en-US" dirty="0"/>
              <a:t> single-mode</a:t>
            </a:r>
          </a:p>
        </p:txBody>
      </p:sp>
      <p:pic>
        <p:nvPicPr>
          <p:cNvPr id="14" name="Picture 13">
            <a:extLst>
              <a:ext uri="{FF2B5EF4-FFF2-40B4-BE49-F238E27FC236}">
                <a16:creationId xmlns:a16="http://schemas.microsoft.com/office/drawing/2014/main" id="{46A9A93F-9AA1-4D62-9160-323BE0E0F3A3}"/>
              </a:ext>
            </a:extLst>
          </p:cNvPr>
          <p:cNvPicPr>
            <a:picLocks noChangeAspect="1"/>
          </p:cNvPicPr>
          <p:nvPr/>
        </p:nvPicPr>
        <p:blipFill>
          <a:blip r:embed="rId5"/>
          <a:stretch>
            <a:fillRect/>
          </a:stretch>
        </p:blipFill>
        <p:spPr>
          <a:xfrm>
            <a:off x="1537563" y="3133958"/>
            <a:ext cx="7952381" cy="2057143"/>
          </a:xfrm>
          <a:prstGeom prst="rect">
            <a:avLst/>
          </a:prstGeom>
        </p:spPr>
      </p:pic>
      <p:pic>
        <p:nvPicPr>
          <p:cNvPr id="16" name="Picture 15">
            <a:extLst>
              <a:ext uri="{FF2B5EF4-FFF2-40B4-BE49-F238E27FC236}">
                <a16:creationId xmlns:a16="http://schemas.microsoft.com/office/drawing/2014/main" id="{92C4DC66-E3E5-F836-24CC-0E75D15BBF0E}"/>
              </a:ext>
            </a:extLst>
          </p:cNvPr>
          <p:cNvPicPr>
            <a:picLocks noChangeAspect="1"/>
          </p:cNvPicPr>
          <p:nvPr/>
        </p:nvPicPr>
        <p:blipFill>
          <a:blip r:embed="rId6"/>
          <a:stretch>
            <a:fillRect/>
          </a:stretch>
        </p:blipFill>
        <p:spPr>
          <a:xfrm>
            <a:off x="1537563" y="5191101"/>
            <a:ext cx="7952381" cy="2028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3CA0-3755-DF38-E49F-5A0DD30D1694}"/>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270325C8-0CC8-E919-541E-0F67C49A1C9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B3BEF384-A5EA-0411-2BDC-935F1DF8814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9AF0C282-A83A-9B73-3A6C-6E82E8492175}"/>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1D6C87A7-6552-65D3-3EAD-1F8D293F82B6}"/>
              </a:ext>
            </a:extLst>
          </p:cNvPr>
          <p:cNvSpPr txBox="1"/>
          <p:nvPr/>
        </p:nvSpPr>
        <p:spPr>
          <a:xfrm>
            <a:off x="1261625" y="894357"/>
            <a:ext cx="6712926" cy="369332"/>
          </a:xfrm>
          <a:prstGeom prst="rect">
            <a:avLst/>
          </a:prstGeom>
          <a:noFill/>
        </p:spPr>
        <p:txBody>
          <a:bodyPr wrap="square">
            <a:spAutoFit/>
          </a:bodyPr>
          <a:lstStyle/>
          <a:p>
            <a:r>
              <a:rPr lang="en-US" dirty="0"/>
              <a:t>3. Install </a:t>
            </a:r>
            <a:r>
              <a:rPr lang="en-US" dirty="0" err="1"/>
              <a:t>wazuh</a:t>
            </a:r>
            <a:r>
              <a:rPr lang="en-US" dirty="0"/>
              <a:t> single-mode</a:t>
            </a:r>
          </a:p>
        </p:txBody>
      </p:sp>
      <p:pic>
        <p:nvPicPr>
          <p:cNvPr id="4" name="Picture 3">
            <a:extLst>
              <a:ext uri="{FF2B5EF4-FFF2-40B4-BE49-F238E27FC236}">
                <a16:creationId xmlns:a16="http://schemas.microsoft.com/office/drawing/2014/main" id="{A640FC3C-AA04-F5ED-712D-921FD7FF2151}"/>
              </a:ext>
            </a:extLst>
          </p:cNvPr>
          <p:cNvPicPr>
            <a:picLocks noChangeAspect="1"/>
          </p:cNvPicPr>
          <p:nvPr/>
        </p:nvPicPr>
        <p:blipFill>
          <a:blip r:embed="rId4"/>
          <a:stretch>
            <a:fillRect/>
          </a:stretch>
        </p:blipFill>
        <p:spPr>
          <a:xfrm>
            <a:off x="1548907" y="1368178"/>
            <a:ext cx="8638095" cy="4266667"/>
          </a:xfrm>
          <a:prstGeom prst="rect">
            <a:avLst/>
          </a:prstGeom>
        </p:spPr>
      </p:pic>
    </p:spTree>
    <p:extLst>
      <p:ext uri="{BB962C8B-B14F-4D97-AF65-F5344CB8AC3E}">
        <p14:creationId xmlns:p14="http://schemas.microsoft.com/office/powerpoint/2010/main" val="2758341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32C7B-0DF3-B6C0-759A-55586EEA2663}"/>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ED5A1017-4328-969F-B317-D3498097FC6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F5737096-FCD1-3C3F-E5EA-397C13F88BA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67EB4F2D-D956-9D11-FB34-E0B14A47C2C1}"/>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3" name="TextBox 2">
            <a:extLst>
              <a:ext uri="{FF2B5EF4-FFF2-40B4-BE49-F238E27FC236}">
                <a16:creationId xmlns:a16="http://schemas.microsoft.com/office/drawing/2014/main" id="{898F9A6F-35B2-CF8E-000D-5F5EC525E943}"/>
              </a:ext>
            </a:extLst>
          </p:cNvPr>
          <p:cNvSpPr txBox="1"/>
          <p:nvPr/>
        </p:nvSpPr>
        <p:spPr>
          <a:xfrm>
            <a:off x="505558" y="964183"/>
            <a:ext cx="9948495" cy="1600438"/>
          </a:xfrm>
          <a:prstGeom prst="rect">
            <a:avLst/>
          </a:prstGeom>
          <a:noFill/>
        </p:spPr>
        <p:txBody>
          <a:bodyPr wrap="square">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1. Indexer Node (indexer)</a:t>
            </a:r>
          </a:p>
          <a:p>
            <a:r>
              <a:rPr lang="en-US" sz="1400" dirty="0">
                <a:latin typeface="Tahoma" panose="020B0604030504040204" pitchFamily="34" charset="0"/>
                <a:ea typeface="Tahoma" panose="020B0604030504040204" pitchFamily="34" charset="0"/>
                <a:cs typeface="Tahoma" panose="020B0604030504040204" pitchFamily="34" charset="0"/>
              </a:rPr>
              <a:t> This is the storage and lookup layer.</a:t>
            </a:r>
          </a:p>
          <a:p>
            <a:r>
              <a:rPr lang="en-US" sz="1400" dirty="0">
                <a:latin typeface="Tahoma" panose="020B0604030504040204" pitchFamily="34" charset="0"/>
                <a:ea typeface="Tahoma" panose="020B0604030504040204" pitchFamily="34" charset="0"/>
                <a:cs typeface="Tahoma" panose="020B0604030504040204" pitchFamily="34" charset="0"/>
              </a:rPr>
              <a:t> Name in the image: </a:t>
            </a:r>
            <a:r>
              <a:rPr lang="en-US" sz="1400" dirty="0" err="1">
                <a:latin typeface="Tahoma" panose="020B0604030504040204" pitchFamily="34" charset="0"/>
                <a:ea typeface="Tahoma" panose="020B0604030504040204" pitchFamily="34" charset="0"/>
                <a:cs typeface="Tahoma" panose="020B0604030504040204" pitchFamily="34" charset="0"/>
              </a:rPr>
              <a:t>wazuh.indexer</a:t>
            </a:r>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 Role: Like a super-fast librarian. When logs are sent, the Indexer will index them and store them on disk.</a:t>
            </a:r>
          </a:p>
          <a:p>
            <a:r>
              <a:rPr lang="en-US" sz="1400" dirty="0">
                <a:latin typeface="Tahoma" panose="020B0604030504040204" pitchFamily="34" charset="0"/>
                <a:ea typeface="Tahoma" panose="020B0604030504040204" pitchFamily="34" charset="0"/>
                <a:cs typeface="Tahoma" panose="020B0604030504040204" pitchFamily="34" charset="0"/>
              </a:rPr>
              <a:t> Why it's important: When you search for a security event on the web interface, this node will search through its massive  data "repository" to return the results to you.</a:t>
            </a:r>
          </a:p>
          <a:p>
            <a:r>
              <a:rPr lang="en-US" sz="1400" dirty="0">
                <a:latin typeface="Tahoma" panose="020B0604030504040204" pitchFamily="34" charset="0"/>
                <a:ea typeface="Tahoma" panose="020B0604030504040204" pitchFamily="34" charset="0"/>
                <a:cs typeface="Tahoma" panose="020B0604030504040204" pitchFamily="34" charset="0"/>
              </a:rPr>
              <a:t> Note: In Docker, the variable </a:t>
            </a:r>
            <a:r>
              <a:rPr lang="en-US" sz="1400" dirty="0" err="1">
                <a:latin typeface="Tahoma" panose="020B0604030504040204" pitchFamily="34" charset="0"/>
                <a:ea typeface="Tahoma" panose="020B0604030504040204" pitchFamily="34" charset="0"/>
                <a:cs typeface="Tahoma" panose="020B0604030504040204" pitchFamily="34" charset="0"/>
              </a:rPr>
              <a:t>ip:wazuh.indexer</a:t>
            </a:r>
            <a:r>
              <a:rPr lang="en-US" sz="1400" dirty="0">
                <a:latin typeface="Tahoma" panose="020B0604030504040204" pitchFamily="34" charset="0"/>
                <a:ea typeface="Tahoma" panose="020B0604030504040204" pitchFamily="34" charset="0"/>
                <a:cs typeface="Tahoma" panose="020B0604030504040204" pitchFamily="34" charset="0"/>
              </a:rPr>
              <a:t> acts as the internal hostname for other containers to connect to via HTTPS.</a:t>
            </a:r>
          </a:p>
        </p:txBody>
      </p:sp>
      <p:sp>
        <p:nvSpPr>
          <p:cNvPr id="5" name="TextBox 4">
            <a:extLst>
              <a:ext uri="{FF2B5EF4-FFF2-40B4-BE49-F238E27FC236}">
                <a16:creationId xmlns:a16="http://schemas.microsoft.com/office/drawing/2014/main" id="{496F4B5C-89CC-64ED-1DAC-1A50421B6C86}"/>
              </a:ext>
            </a:extLst>
          </p:cNvPr>
          <p:cNvSpPr txBox="1"/>
          <p:nvPr/>
        </p:nvSpPr>
        <p:spPr>
          <a:xfrm>
            <a:off x="505558" y="2564621"/>
            <a:ext cx="9948495" cy="2462213"/>
          </a:xfrm>
          <a:prstGeom prst="rect">
            <a:avLst/>
          </a:prstGeom>
          <a:noFill/>
        </p:spPr>
        <p:txBody>
          <a:bodyPr wrap="square">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2. Server Node (server)</a:t>
            </a:r>
          </a:p>
          <a:p>
            <a:pPr lvl="2"/>
            <a:r>
              <a:rPr lang="en-US" sz="1400" dirty="0">
                <a:latin typeface="Tahoma" panose="020B0604030504040204" pitchFamily="34" charset="0"/>
                <a:ea typeface="Tahoma" panose="020B0604030504040204" pitchFamily="34" charset="0"/>
                <a:cs typeface="Tahoma" panose="020B0604030504040204" pitchFamily="34" charset="0"/>
              </a:rPr>
              <a:t> This is the central operating layer (</a:t>
            </a:r>
            <a:r>
              <a:rPr lang="en-US" sz="1400" dirty="0" err="1">
                <a:latin typeface="Tahoma" panose="020B0604030504040204" pitchFamily="34" charset="0"/>
                <a:ea typeface="Tahoma" panose="020B0604030504040204" pitchFamily="34" charset="0"/>
                <a:cs typeface="Tahoma" panose="020B0604030504040204" pitchFamily="34" charset="0"/>
              </a:rPr>
              <a:t>Wazuh</a:t>
            </a:r>
            <a:r>
              <a:rPr lang="en-US" sz="1400" dirty="0">
                <a:latin typeface="Tahoma" panose="020B0604030504040204" pitchFamily="34" charset="0"/>
                <a:ea typeface="Tahoma" panose="020B0604030504040204" pitchFamily="34" charset="0"/>
                <a:cs typeface="Tahoma" panose="020B0604030504040204" pitchFamily="34" charset="0"/>
              </a:rPr>
              <a:t> Manager).</a:t>
            </a:r>
          </a:p>
          <a:p>
            <a:pPr lvl="2"/>
            <a:r>
              <a:rPr lang="en-US" sz="1400" dirty="0">
                <a:latin typeface="Tahoma" panose="020B0604030504040204" pitchFamily="34" charset="0"/>
                <a:ea typeface="Tahoma" panose="020B0604030504040204" pitchFamily="34" charset="0"/>
                <a:cs typeface="Tahoma" panose="020B0604030504040204" pitchFamily="34" charset="0"/>
              </a:rPr>
              <a:t> Name in the image: </a:t>
            </a:r>
            <a:r>
              <a:rPr lang="en-US" sz="1400" dirty="0" err="1">
                <a:latin typeface="Tahoma" panose="020B0604030504040204" pitchFamily="34" charset="0"/>
                <a:ea typeface="Tahoma" panose="020B0604030504040204" pitchFamily="34" charset="0"/>
                <a:cs typeface="Tahoma" panose="020B0604030504040204" pitchFamily="34" charset="0"/>
              </a:rPr>
              <a:t>wazuh.manager</a:t>
            </a:r>
            <a:endParaRPr lang="en-US" sz="1400" dirty="0">
              <a:latin typeface="Tahoma" panose="020B0604030504040204" pitchFamily="34" charset="0"/>
              <a:ea typeface="Tahoma" panose="020B0604030504040204" pitchFamily="34" charset="0"/>
              <a:cs typeface="Tahoma" panose="020B0604030504040204" pitchFamily="34" charset="0"/>
            </a:endParaRPr>
          </a:p>
          <a:p>
            <a:pPr lvl="2"/>
            <a:r>
              <a:rPr lang="en-US" sz="1400" dirty="0">
                <a:latin typeface="Tahoma" panose="020B0604030504040204" pitchFamily="34" charset="0"/>
                <a:ea typeface="Tahoma" panose="020B0604030504040204" pitchFamily="34" charset="0"/>
                <a:cs typeface="Tahoma" panose="020B0604030504040204" pitchFamily="34" charset="0"/>
              </a:rPr>
              <a:t> Role: It is the brain of the entire system. It performs the following tasks:</a:t>
            </a:r>
          </a:p>
          <a:p>
            <a:pPr lvl="2"/>
            <a:r>
              <a:rPr lang="en-US" sz="1400" dirty="0">
                <a:latin typeface="Tahoma" panose="020B0604030504040204" pitchFamily="34" charset="0"/>
                <a:ea typeface="Tahoma" panose="020B0604030504040204" pitchFamily="34" charset="0"/>
                <a:cs typeface="Tahoma" panose="020B0604030504040204" pitchFamily="34" charset="0"/>
              </a:rPr>
              <a:t> Receives log data sent from Agents (clients).</a:t>
            </a:r>
          </a:p>
          <a:p>
            <a:pPr lvl="2"/>
            <a:r>
              <a:rPr lang="en-US" sz="1400" dirty="0">
                <a:latin typeface="Tahoma" panose="020B0604030504040204" pitchFamily="34" charset="0"/>
                <a:ea typeface="Tahoma" panose="020B0604030504040204" pitchFamily="34" charset="0"/>
                <a:cs typeface="Tahoma" panose="020B0604030504040204" pitchFamily="34" charset="0"/>
              </a:rPr>
              <a:t> Analyzes logs based on rulesets to detect attacks.</a:t>
            </a:r>
          </a:p>
          <a:p>
            <a:pPr lvl="2"/>
            <a:r>
              <a:rPr lang="en-US" sz="1400" dirty="0">
                <a:latin typeface="Tahoma" panose="020B0604030504040204" pitchFamily="34" charset="0"/>
                <a:ea typeface="Tahoma" panose="020B0604030504040204" pitchFamily="34" charset="0"/>
                <a:cs typeface="Tahoma" panose="020B0604030504040204" pitchFamily="34" charset="0"/>
              </a:rPr>
              <a:t> Issues alerts and pushes them to the Indexer for storage.</a:t>
            </a:r>
          </a:p>
          <a:p>
            <a:pPr lvl="2"/>
            <a:r>
              <a:rPr lang="en-US" sz="1400" dirty="0">
                <a:latin typeface="Tahoma" panose="020B0604030504040204" pitchFamily="34" charset="0"/>
                <a:ea typeface="Tahoma" panose="020B0604030504040204" pitchFamily="34" charset="0"/>
                <a:cs typeface="Tahoma" panose="020B0604030504040204" pitchFamily="34" charset="0"/>
              </a:rPr>
              <a:t> Manages the registration and open/closed status of Agents.</a:t>
            </a:r>
          </a:p>
          <a:p>
            <a:pPr lvl="2"/>
            <a:r>
              <a:rPr lang="en-US" sz="1400" dirty="0">
                <a:latin typeface="Tahoma" panose="020B0604030504040204" pitchFamily="34" charset="0"/>
                <a:ea typeface="Tahoma" panose="020B0604030504040204" pitchFamily="34" charset="0"/>
                <a:cs typeface="Tahoma" panose="020B0604030504040204" pitchFamily="34" charset="0"/>
              </a:rPr>
              <a:t> Note in the image: The blue text # Use </a:t>
            </a:r>
            <a:r>
              <a:rPr lang="en-US" sz="1400" dirty="0" err="1">
                <a:latin typeface="Tahoma" panose="020B0604030504040204" pitchFamily="34" charset="0"/>
                <a:ea typeface="Tahoma" panose="020B0604030504040204" pitchFamily="34" charset="0"/>
                <a:cs typeface="Tahoma" panose="020B0604030504040204" pitchFamily="34" charset="0"/>
              </a:rPr>
              <a:t>node_type</a:t>
            </a:r>
            <a:r>
              <a:rPr lang="en-US" sz="1400" dirty="0">
                <a:latin typeface="Tahoma" panose="020B0604030504040204" pitchFamily="34" charset="0"/>
                <a:ea typeface="Tahoma" panose="020B0604030504040204" pitchFamily="34" charset="0"/>
                <a:cs typeface="Tahoma" panose="020B0604030504040204" pitchFamily="34" charset="0"/>
              </a:rPr>
              <a:t> only with more than one </a:t>
            </a:r>
            <a:r>
              <a:rPr lang="en-US" sz="1400" dirty="0" err="1">
                <a:latin typeface="Tahoma" panose="020B0604030504040204" pitchFamily="34" charset="0"/>
                <a:ea typeface="Tahoma" panose="020B0604030504040204" pitchFamily="34" charset="0"/>
                <a:cs typeface="Tahoma" panose="020B0604030504040204" pitchFamily="34" charset="0"/>
              </a:rPr>
              <a:t>Wazuh</a:t>
            </a:r>
            <a:r>
              <a:rPr lang="en-US" sz="1400" dirty="0">
                <a:latin typeface="Tahoma" panose="020B0604030504040204" pitchFamily="34" charset="0"/>
                <a:ea typeface="Tahoma" panose="020B0604030504040204" pitchFamily="34" charset="0"/>
                <a:cs typeface="Tahoma" panose="020B0604030504040204" pitchFamily="34" charset="0"/>
              </a:rPr>
              <a:t> manager reminds you that if the  system grows later and you use a cluster with many Managers, you will need to specify which Node is the Master and which is the Worker.</a:t>
            </a:r>
          </a:p>
        </p:txBody>
      </p:sp>
      <p:sp>
        <p:nvSpPr>
          <p:cNvPr id="7" name="TextBox 6">
            <a:extLst>
              <a:ext uri="{FF2B5EF4-FFF2-40B4-BE49-F238E27FC236}">
                <a16:creationId xmlns:a16="http://schemas.microsoft.com/office/drawing/2014/main" id="{A9726DA3-D77E-497E-C04A-FC32D958B741}"/>
              </a:ext>
            </a:extLst>
          </p:cNvPr>
          <p:cNvSpPr txBox="1"/>
          <p:nvPr/>
        </p:nvSpPr>
        <p:spPr>
          <a:xfrm>
            <a:off x="505558" y="4991880"/>
            <a:ext cx="9628690" cy="1384995"/>
          </a:xfrm>
          <a:prstGeom prst="rect">
            <a:avLst/>
          </a:prstGeom>
          <a:noFill/>
        </p:spPr>
        <p:txBody>
          <a:bodyPr wrap="square">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3. Dashboard Node (dashboard)</a:t>
            </a:r>
          </a:p>
          <a:p>
            <a:r>
              <a:rPr lang="en-US" sz="1400" dirty="0">
                <a:latin typeface="Tahoma" panose="020B0604030504040204" pitchFamily="34" charset="0"/>
                <a:ea typeface="Tahoma" panose="020B0604030504040204" pitchFamily="34" charset="0"/>
                <a:cs typeface="Tahoma" panose="020B0604030504040204" pitchFamily="34" charset="0"/>
              </a:rPr>
              <a:t> This is the user interface layer (GUI).</a:t>
            </a:r>
          </a:p>
          <a:p>
            <a:r>
              <a:rPr lang="en-US" sz="1400" dirty="0">
                <a:latin typeface="Tahoma" panose="020B0604030504040204" pitchFamily="34" charset="0"/>
                <a:ea typeface="Tahoma" panose="020B0604030504040204" pitchFamily="34" charset="0"/>
                <a:cs typeface="Tahoma" panose="020B0604030504040204" pitchFamily="34" charset="0"/>
              </a:rPr>
              <a:t> Name in the image: </a:t>
            </a:r>
            <a:r>
              <a:rPr lang="en-US" sz="1400" dirty="0" err="1">
                <a:latin typeface="Tahoma" panose="020B0604030504040204" pitchFamily="34" charset="0"/>
                <a:ea typeface="Tahoma" panose="020B0604030504040204" pitchFamily="34" charset="0"/>
                <a:cs typeface="Tahoma" panose="020B0604030504040204" pitchFamily="34" charset="0"/>
              </a:rPr>
              <a:t>wazuh.dashboard</a:t>
            </a:r>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 Role: It is the face of the system (based on OpenSearch Dashboards). It does not store data but only "draws" data   from the Indexer into visual charts, tables, and search bars for you to interact with.</a:t>
            </a:r>
          </a:p>
          <a:p>
            <a:r>
              <a:rPr lang="en-US" sz="1400" dirty="0">
                <a:latin typeface="Tahoma" panose="020B0604030504040204" pitchFamily="34" charset="0"/>
                <a:ea typeface="Tahoma" panose="020B0604030504040204" pitchFamily="34" charset="0"/>
                <a:cs typeface="Tahoma" panose="020B0604030504040204" pitchFamily="34" charset="0"/>
              </a:rPr>
              <a:t> Method: When you log into your browser via port 443, you are interacting directly with this Node.</a:t>
            </a:r>
          </a:p>
        </p:txBody>
      </p:sp>
    </p:spTree>
    <p:extLst>
      <p:ext uri="{BB962C8B-B14F-4D97-AF65-F5344CB8AC3E}">
        <p14:creationId xmlns:p14="http://schemas.microsoft.com/office/powerpoint/2010/main" val="93861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65E96-7251-735A-8176-3258D1B8F410}"/>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6BF1A8F6-147E-220D-A758-99E02BCF086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35F7D7D5-BDB0-C810-C6A8-BC413A3DC04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41F294BE-0A59-02E3-B164-BD22FDA452E6}"/>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9" name="TextBox 8">
            <a:extLst>
              <a:ext uri="{FF2B5EF4-FFF2-40B4-BE49-F238E27FC236}">
                <a16:creationId xmlns:a16="http://schemas.microsoft.com/office/drawing/2014/main" id="{45103403-BFCD-3FAD-9F3C-55B087B05682}"/>
              </a:ext>
            </a:extLst>
          </p:cNvPr>
          <p:cNvSpPr txBox="1"/>
          <p:nvPr/>
        </p:nvSpPr>
        <p:spPr>
          <a:xfrm>
            <a:off x="1033937" y="1164661"/>
            <a:ext cx="8180402" cy="2262158"/>
          </a:xfrm>
          <a:prstGeom prst="rect">
            <a:avLst/>
          </a:prstGeom>
          <a:noFill/>
        </p:spPr>
        <p:txBody>
          <a:bodyPr wrap="square">
            <a:spAutoFit/>
          </a:bodyPr>
          <a:lstStyle/>
          <a:p>
            <a:pPr algn="l" rtl="0">
              <a:lnSpc>
                <a:spcPts val="2100"/>
              </a:lnSpc>
              <a:buNone/>
            </a:pPr>
            <a:r>
              <a:rPr lang="en-US" b="0" i="0" dirty="0">
                <a:solidFill>
                  <a:srgbClr val="3C4043"/>
                </a:solidFill>
                <a:effectLst/>
                <a:latin typeface="Roboto" panose="02000000000000000000" pitchFamily="2" charset="0"/>
              </a:rPr>
              <a:t>Summary of the workflow between Nodes: Agent (on your server) $\</a:t>
            </a:r>
            <a:r>
              <a:rPr lang="en-US" b="0" i="0" dirty="0" err="1">
                <a:solidFill>
                  <a:srgbClr val="3C4043"/>
                </a:solidFill>
                <a:effectLst/>
                <a:latin typeface="Roboto" panose="02000000000000000000" pitchFamily="2" charset="0"/>
              </a:rPr>
              <a:t>rightarrow</a:t>
            </a:r>
            <a:r>
              <a:rPr lang="en-US" b="0" i="0" dirty="0">
                <a:solidFill>
                  <a:srgbClr val="3C4043"/>
                </a:solidFill>
                <a:effectLst/>
                <a:latin typeface="Roboto" panose="02000000000000000000" pitchFamily="2" charset="0"/>
              </a:rPr>
              <a:t>$ sends a log to the server (</a:t>
            </a:r>
            <a:r>
              <a:rPr lang="en-US" b="0" i="0" dirty="0" err="1">
                <a:solidFill>
                  <a:srgbClr val="3C4043"/>
                </a:solidFill>
                <a:effectLst/>
                <a:latin typeface="Roboto" panose="02000000000000000000" pitchFamily="2" charset="0"/>
              </a:rPr>
              <a:t>wazuh.manager</a:t>
            </a:r>
            <a:r>
              <a:rPr lang="en-US" b="0" i="0" dirty="0">
                <a:solidFill>
                  <a:srgbClr val="3C4043"/>
                </a:solidFill>
                <a:effectLst/>
                <a:latin typeface="Roboto" panose="02000000000000000000" pitchFamily="2" charset="0"/>
              </a:rPr>
              <a:t>). The server analyzes the log $\</a:t>
            </a:r>
            <a:r>
              <a:rPr lang="en-US" b="0" i="0" dirty="0" err="1">
                <a:solidFill>
                  <a:srgbClr val="3C4043"/>
                </a:solidFill>
                <a:effectLst/>
                <a:latin typeface="Roboto" panose="02000000000000000000" pitchFamily="2" charset="0"/>
              </a:rPr>
              <a:t>rightarrow</a:t>
            </a:r>
            <a:r>
              <a:rPr lang="en-US" b="0" i="0" dirty="0">
                <a:solidFill>
                  <a:srgbClr val="3C4043"/>
                </a:solidFill>
                <a:effectLst/>
                <a:latin typeface="Roboto" panose="02000000000000000000" pitchFamily="2" charset="0"/>
              </a:rPr>
              <a:t>$ detects a threat $\</a:t>
            </a:r>
            <a:r>
              <a:rPr lang="en-US" b="0" i="0" dirty="0" err="1">
                <a:solidFill>
                  <a:srgbClr val="3C4043"/>
                </a:solidFill>
                <a:effectLst/>
                <a:latin typeface="Roboto" panose="02000000000000000000" pitchFamily="2" charset="0"/>
              </a:rPr>
              <a:t>rightarrow</a:t>
            </a:r>
            <a:r>
              <a:rPr lang="en-US" b="0" i="0" dirty="0">
                <a:solidFill>
                  <a:srgbClr val="3C4043"/>
                </a:solidFill>
                <a:effectLst/>
                <a:latin typeface="Roboto" panose="02000000000000000000" pitchFamily="2" charset="0"/>
              </a:rPr>
              <a:t>$ creates an alert and sends it to the indexer (</a:t>
            </a:r>
            <a:r>
              <a:rPr lang="en-US" b="0" i="0" dirty="0" err="1">
                <a:solidFill>
                  <a:srgbClr val="3C4043"/>
                </a:solidFill>
                <a:effectLst/>
                <a:latin typeface="Roboto" panose="02000000000000000000" pitchFamily="2" charset="0"/>
              </a:rPr>
              <a:t>wazuh.indexer</a:t>
            </a:r>
            <a:r>
              <a:rPr lang="en-US" b="0" i="0" dirty="0">
                <a:solidFill>
                  <a:srgbClr val="3C4043"/>
                </a:solidFill>
                <a:effectLst/>
                <a:latin typeface="Roboto" panose="02000000000000000000" pitchFamily="2" charset="0"/>
              </a:rPr>
              <a:t>). The indexer stores the alert in the database. You access the dashboard (</a:t>
            </a:r>
            <a:r>
              <a:rPr lang="en-US" b="0" i="0" dirty="0" err="1">
                <a:solidFill>
                  <a:srgbClr val="3C4043"/>
                </a:solidFill>
                <a:effectLst/>
                <a:latin typeface="Roboto" panose="02000000000000000000" pitchFamily="2" charset="0"/>
              </a:rPr>
              <a:t>wazuh.dashboard</a:t>
            </a:r>
            <a:r>
              <a:rPr lang="en-US" b="0" i="0" dirty="0">
                <a:solidFill>
                  <a:srgbClr val="3C4043"/>
                </a:solidFill>
                <a:effectLst/>
                <a:latin typeface="Roboto" panose="02000000000000000000" pitchFamily="2" charset="0"/>
              </a:rPr>
              <a:t>) $\</a:t>
            </a:r>
            <a:r>
              <a:rPr lang="en-US" b="0" i="0" dirty="0" err="1">
                <a:solidFill>
                  <a:srgbClr val="3C4043"/>
                </a:solidFill>
                <a:effectLst/>
                <a:latin typeface="Roboto" panose="02000000000000000000" pitchFamily="2" charset="0"/>
              </a:rPr>
              <a:t>rightarrow</a:t>
            </a:r>
            <a:r>
              <a:rPr lang="en-US" b="0" i="0" dirty="0">
                <a:solidFill>
                  <a:srgbClr val="3C4043"/>
                </a:solidFill>
                <a:effectLst/>
                <a:latin typeface="Roboto" panose="02000000000000000000" pitchFamily="2" charset="0"/>
              </a:rPr>
              <a:t>$ The dashboard retrieves data from the indexer and displays it on the screen for you to view.</a:t>
            </a:r>
          </a:p>
          <a:p>
            <a:pPr>
              <a:buNone/>
            </a:pPr>
            <a:br>
              <a:rPr lang="en-US" b="0" i="0" dirty="0">
                <a:solidFill>
                  <a:srgbClr val="5F6368"/>
                </a:solidFill>
                <a:effectLst/>
                <a:latin typeface="Roboto" panose="02000000000000000000" pitchFamily="2" charset="0"/>
              </a:rPr>
            </a:br>
            <a:endParaRPr lang="en-US" dirty="0"/>
          </a:p>
        </p:txBody>
      </p:sp>
    </p:spTree>
    <p:extLst>
      <p:ext uri="{BB962C8B-B14F-4D97-AF65-F5344CB8AC3E}">
        <p14:creationId xmlns:p14="http://schemas.microsoft.com/office/powerpoint/2010/main" val="3563636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74E5-9E94-FE4A-4DE2-2C2DE1E788EA}"/>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75A7F0D9-85E0-83C1-2261-80E518D10E7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61BA5592-D432-2113-D5CD-F667A04805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7BC008DF-7C15-CEA6-8810-487C98A9E88B}"/>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CA66F1BC-91E9-B44C-2ED2-8F00743A911B}"/>
              </a:ext>
            </a:extLst>
          </p:cNvPr>
          <p:cNvSpPr txBox="1"/>
          <p:nvPr/>
        </p:nvSpPr>
        <p:spPr>
          <a:xfrm>
            <a:off x="1261625" y="894357"/>
            <a:ext cx="6712926" cy="369332"/>
          </a:xfrm>
          <a:prstGeom prst="rect">
            <a:avLst/>
          </a:prstGeom>
          <a:noFill/>
        </p:spPr>
        <p:txBody>
          <a:bodyPr wrap="square">
            <a:spAutoFit/>
          </a:bodyPr>
          <a:lstStyle/>
          <a:p>
            <a:r>
              <a:rPr lang="en-US" dirty="0"/>
              <a:t>3. Install </a:t>
            </a:r>
            <a:r>
              <a:rPr lang="en-US" dirty="0" err="1"/>
              <a:t>wazuh</a:t>
            </a:r>
            <a:r>
              <a:rPr lang="en-US" dirty="0"/>
              <a:t> single-mode</a:t>
            </a:r>
          </a:p>
        </p:txBody>
      </p:sp>
      <p:sp>
        <p:nvSpPr>
          <p:cNvPr id="3" name="TextBox 2">
            <a:extLst>
              <a:ext uri="{FF2B5EF4-FFF2-40B4-BE49-F238E27FC236}">
                <a16:creationId xmlns:a16="http://schemas.microsoft.com/office/drawing/2014/main" id="{D0804AEA-EC86-3A57-31BA-428AF99CFFC6}"/>
              </a:ext>
            </a:extLst>
          </p:cNvPr>
          <p:cNvSpPr txBox="1"/>
          <p:nvPr/>
        </p:nvSpPr>
        <p:spPr>
          <a:xfrm>
            <a:off x="1507881" y="1368178"/>
            <a:ext cx="5407268" cy="646331"/>
          </a:xfrm>
          <a:prstGeom prst="rect">
            <a:avLst/>
          </a:prstGeom>
          <a:noFill/>
        </p:spPr>
        <p:txBody>
          <a:bodyPr wrap="square">
            <a:spAutoFit/>
          </a:bodyPr>
          <a:lstStyle/>
          <a:p>
            <a:r>
              <a:rPr lang="en-US" b="0" i="0" dirty="0">
                <a:solidFill>
                  <a:srgbClr val="3C4043"/>
                </a:solidFill>
                <a:effectLst/>
                <a:latin typeface="Roboto" panose="02000000000000000000" pitchFamily="2" charset="0"/>
              </a:rPr>
              <a:t>Create SSL certificates </a:t>
            </a:r>
            <a:r>
              <a:rPr lang="en-US" b="0" i="0" dirty="0" err="1">
                <a:solidFill>
                  <a:srgbClr val="3C4043"/>
                </a:solidFill>
                <a:effectLst/>
                <a:latin typeface="Roboto" panose="02000000000000000000" pitchFamily="2" charset="0"/>
              </a:rPr>
              <a:t>Wazuh</a:t>
            </a:r>
            <a:r>
              <a:rPr lang="en-US" b="0" i="0" dirty="0">
                <a:solidFill>
                  <a:srgbClr val="3C4043"/>
                </a:solidFill>
                <a:effectLst/>
                <a:latin typeface="Roboto" panose="02000000000000000000" pitchFamily="2" charset="0"/>
              </a:rPr>
              <a:t> requires a secure connection between components</a:t>
            </a:r>
            <a:endParaRPr lang="en-US" dirty="0"/>
          </a:p>
        </p:txBody>
      </p:sp>
      <p:sp>
        <p:nvSpPr>
          <p:cNvPr id="6" name="TextBox 5">
            <a:extLst>
              <a:ext uri="{FF2B5EF4-FFF2-40B4-BE49-F238E27FC236}">
                <a16:creationId xmlns:a16="http://schemas.microsoft.com/office/drawing/2014/main" id="{347427F4-9FE4-F751-5F80-48F27A294C9C}"/>
              </a:ext>
            </a:extLst>
          </p:cNvPr>
          <p:cNvSpPr txBox="1"/>
          <p:nvPr/>
        </p:nvSpPr>
        <p:spPr>
          <a:xfrm>
            <a:off x="1850780" y="2029016"/>
            <a:ext cx="74380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docker-compose -f generate-indexer-</a:t>
            </a:r>
            <a:r>
              <a:rPr lang="en-US" dirty="0" err="1"/>
              <a:t>certs.yml</a:t>
            </a:r>
            <a:r>
              <a:rPr lang="en-US" dirty="0"/>
              <a:t> run --rm generator</a:t>
            </a:r>
          </a:p>
        </p:txBody>
      </p:sp>
      <p:pic>
        <p:nvPicPr>
          <p:cNvPr id="10" name="Picture 9">
            <a:extLst>
              <a:ext uri="{FF2B5EF4-FFF2-40B4-BE49-F238E27FC236}">
                <a16:creationId xmlns:a16="http://schemas.microsoft.com/office/drawing/2014/main" id="{E2292F1F-6B74-99C4-FFEC-7C9EFCA92351}"/>
              </a:ext>
            </a:extLst>
          </p:cNvPr>
          <p:cNvPicPr>
            <a:picLocks noChangeAspect="1"/>
          </p:cNvPicPr>
          <p:nvPr/>
        </p:nvPicPr>
        <p:blipFill>
          <a:blip r:embed="rId4"/>
          <a:stretch>
            <a:fillRect/>
          </a:stretch>
        </p:blipFill>
        <p:spPr>
          <a:xfrm>
            <a:off x="1850780" y="2529060"/>
            <a:ext cx="7549444" cy="4896728"/>
          </a:xfrm>
          <a:prstGeom prst="rect">
            <a:avLst/>
          </a:prstGeom>
        </p:spPr>
      </p:pic>
    </p:spTree>
    <p:extLst>
      <p:ext uri="{BB962C8B-B14F-4D97-AF65-F5344CB8AC3E}">
        <p14:creationId xmlns:p14="http://schemas.microsoft.com/office/powerpoint/2010/main" val="418206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85A1-FA60-6712-FCD9-062DC8C9281D}"/>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38C4AB38-012B-9BC6-BB72-872CB04E3FA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FF1DA5F6-AE46-26DE-9067-4802E0F05E0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62082B24-C0AF-54FF-1BA7-3746891DC120}"/>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13041F18-ACDE-88AD-88DA-59EBDF7338C0}"/>
              </a:ext>
            </a:extLst>
          </p:cNvPr>
          <p:cNvSpPr txBox="1"/>
          <p:nvPr/>
        </p:nvSpPr>
        <p:spPr>
          <a:xfrm>
            <a:off x="1261625" y="894357"/>
            <a:ext cx="6712926" cy="369332"/>
          </a:xfrm>
          <a:prstGeom prst="rect">
            <a:avLst/>
          </a:prstGeom>
          <a:noFill/>
        </p:spPr>
        <p:txBody>
          <a:bodyPr wrap="square">
            <a:spAutoFit/>
          </a:bodyPr>
          <a:lstStyle/>
          <a:p>
            <a:r>
              <a:rPr lang="en-US" dirty="0"/>
              <a:t>3. Install </a:t>
            </a:r>
            <a:r>
              <a:rPr lang="en-US" dirty="0" err="1"/>
              <a:t>wazuh</a:t>
            </a:r>
            <a:r>
              <a:rPr lang="en-US" dirty="0"/>
              <a:t> single-mode</a:t>
            </a:r>
          </a:p>
        </p:txBody>
      </p:sp>
      <p:sp>
        <p:nvSpPr>
          <p:cNvPr id="3" name="TextBox 2">
            <a:extLst>
              <a:ext uri="{FF2B5EF4-FFF2-40B4-BE49-F238E27FC236}">
                <a16:creationId xmlns:a16="http://schemas.microsoft.com/office/drawing/2014/main" id="{DA897490-6BB3-2293-52D3-4443CEF3D97B}"/>
              </a:ext>
            </a:extLst>
          </p:cNvPr>
          <p:cNvSpPr txBox="1"/>
          <p:nvPr/>
        </p:nvSpPr>
        <p:spPr>
          <a:xfrm>
            <a:off x="1507881" y="1368178"/>
            <a:ext cx="5407268" cy="646331"/>
          </a:xfrm>
          <a:prstGeom prst="rect">
            <a:avLst/>
          </a:prstGeom>
          <a:noFill/>
        </p:spPr>
        <p:txBody>
          <a:bodyPr wrap="square">
            <a:spAutoFit/>
          </a:bodyPr>
          <a:lstStyle/>
          <a:p>
            <a:r>
              <a:rPr lang="en-US" b="0" i="0" dirty="0">
                <a:solidFill>
                  <a:srgbClr val="3C4043"/>
                </a:solidFill>
                <a:effectLst/>
                <a:latin typeface="Roboto" panose="02000000000000000000" pitchFamily="2" charset="0"/>
              </a:rPr>
              <a:t>Create SSL certificates </a:t>
            </a:r>
            <a:r>
              <a:rPr lang="en-US" b="0" i="0" dirty="0" err="1">
                <a:solidFill>
                  <a:srgbClr val="3C4043"/>
                </a:solidFill>
                <a:effectLst/>
                <a:latin typeface="Roboto" panose="02000000000000000000" pitchFamily="2" charset="0"/>
              </a:rPr>
              <a:t>Wazuh</a:t>
            </a:r>
            <a:r>
              <a:rPr lang="en-US" b="0" i="0" dirty="0">
                <a:solidFill>
                  <a:srgbClr val="3C4043"/>
                </a:solidFill>
                <a:effectLst/>
                <a:latin typeface="Roboto" panose="02000000000000000000" pitchFamily="2" charset="0"/>
              </a:rPr>
              <a:t> requires a secure connection between components</a:t>
            </a:r>
            <a:endParaRPr lang="en-US" dirty="0"/>
          </a:p>
        </p:txBody>
      </p:sp>
      <p:sp>
        <p:nvSpPr>
          <p:cNvPr id="6" name="TextBox 5">
            <a:extLst>
              <a:ext uri="{FF2B5EF4-FFF2-40B4-BE49-F238E27FC236}">
                <a16:creationId xmlns:a16="http://schemas.microsoft.com/office/drawing/2014/main" id="{DF39A6EF-827B-D72B-8C8C-A4A873A8BDF3}"/>
              </a:ext>
            </a:extLst>
          </p:cNvPr>
          <p:cNvSpPr txBox="1"/>
          <p:nvPr/>
        </p:nvSpPr>
        <p:spPr>
          <a:xfrm>
            <a:off x="1850780" y="2110258"/>
            <a:ext cx="7438075"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docker-compose -f generate-indexer-</a:t>
            </a:r>
            <a:r>
              <a:rPr lang="en-US" dirty="0" err="1"/>
              <a:t>certs.yml</a:t>
            </a:r>
            <a:r>
              <a:rPr lang="en-US" dirty="0"/>
              <a:t> run --rm generator</a:t>
            </a:r>
          </a:p>
        </p:txBody>
      </p:sp>
      <p:pic>
        <p:nvPicPr>
          <p:cNvPr id="7" name="Picture 6">
            <a:extLst>
              <a:ext uri="{FF2B5EF4-FFF2-40B4-BE49-F238E27FC236}">
                <a16:creationId xmlns:a16="http://schemas.microsoft.com/office/drawing/2014/main" id="{3134A26B-6AC1-9938-95F2-B94DE1EE3857}"/>
              </a:ext>
            </a:extLst>
          </p:cNvPr>
          <p:cNvPicPr>
            <a:picLocks noChangeAspect="1"/>
          </p:cNvPicPr>
          <p:nvPr/>
        </p:nvPicPr>
        <p:blipFill>
          <a:blip r:embed="rId4"/>
          <a:stretch>
            <a:fillRect/>
          </a:stretch>
        </p:blipFill>
        <p:spPr>
          <a:xfrm>
            <a:off x="1850779" y="2575339"/>
            <a:ext cx="7438075" cy="2295238"/>
          </a:xfrm>
          <a:prstGeom prst="rect">
            <a:avLst/>
          </a:prstGeom>
        </p:spPr>
      </p:pic>
      <p:sp>
        <p:nvSpPr>
          <p:cNvPr id="9" name="TextBox 8">
            <a:extLst>
              <a:ext uri="{FF2B5EF4-FFF2-40B4-BE49-F238E27FC236}">
                <a16:creationId xmlns:a16="http://schemas.microsoft.com/office/drawing/2014/main" id="{6F202216-58FC-5DA5-701B-303BDCD0CD12}"/>
              </a:ext>
            </a:extLst>
          </p:cNvPr>
          <p:cNvSpPr txBox="1"/>
          <p:nvPr/>
        </p:nvSpPr>
        <p:spPr>
          <a:xfrm>
            <a:off x="1353972" y="5246741"/>
            <a:ext cx="5409444" cy="369332"/>
          </a:xfrm>
          <a:prstGeom prst="rect">
            <a:avLst/>
          </a:prstGeom>
          <a:noFill/>
        </p:spPr>
        <p:txBody>
          <a:bodyPr wrap="square">
            <a:spAutoFit/>
          </a:bodyPr>
          <a:lstStyle/>
          <a:p>
            <a:r>
              <a:rPr lang="en-US" b="0" i="0" dirty="0">
                <a:solidFill>
                  <a:srgbClr val="3C4043"/>
                </a:solidFill>
                <a:effectLst/>
                <a:latin typeface="Roboto" panose="02000000000000000000" pitchFamily="2" charset="0"/>
              </a:rPr>
              <a:t>4. Start the system</a:t>
            </a:r>
            <a:endParaRPr lang="en-US" dirty="0"/>
          </a:p>
        </p:txBody>
      </p:sp>
      <p:sp>
        <p:nvSpPr>
          <p:cNvPr id="11" name="TextBox 10">
            <a:extLst>
              <a:ext uri="{FF2B5EF4-FFF2-40B4-BE49-F238E27FC236}">
                <a16:creationId xmlns:a16="http://schemas.microsoft.com/office/drawing/2014/main" id="{8C13D9A7-A8B0-A7D4-510B-679D0170A80B}"/>
              </a:ext>
            </a:extLst>
          </p:cNvPr>
          <p:cNvSpPr txBox="1"/>
          <p:nvPr/>
        </p:nvSpPr>
        <p:spPr>
          <a:xfrm>
            <a:off x="1704416" y="5663937"/>
            <a:ext cx="7584438"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docker compose up -d</a:t>
            </a:r>
          </a:p>
        </p:txBody>
      </p:sp>
      <p:pic>
        <p:nvPicPr>
          <p:cNvPr id="14" name="Picture 13">
            <a:extLst>
              <a:ext uri="{FF2B5EF4-FFF2-40B4-BE49-F238E27FC236}">
                <a16:creationId xmlns:a16="http://schemas.microsoft.com/office/drawing/2014/main" id="{8D5CC07C-3513-BD1A-05F8-62AFEA3D6144}"/>
              </a:ext>
            </a:extLst>
          </p:cNvPr>
          <p:cNvPicPr>
            <a:picLocks noChangeAspect="1"/>
          </p:cNvPicPr>
          <p:nvPr/>
        </p:nvPicPr>
        <p:blipFill>
          <a:blip r:embed="rId5"/>
          <a:stretch>
            <a:fillRect/>
          </a:stretch>
        </p:blipFill>
        <p:spPr>
          <a:xfrm>
            <a:off x="1704416" y="6279785"/>
            <a:ext cx="7584438" cy="1133333"/>
          </a:xfrm>
          <a:prstGeom prst="rect">
            <a:avLst/>
          </a:prstGeom>
        </p:spPr>
      </p:pic>
    </p:spTree>
    <p:extLst>
      <p:ext uri="{BB962C8B-B14F-4D97-AF65-F5344CB8AC3E}">
        <p14:creationId xmlns:p14="http://schemas.microsoft.com/office/powerpoint/2010/main" val="420687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E00C-2426-E37C-FDA8-00321E28EE2E}"/>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23C954E0-479E-1F59-8ABB-8643F964473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8846B642-41AF-B7F3-BD6A-2037ACAED2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C98B23D2-67F0-4BEF-E7EC-F8665E2D8207}"/>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9" name="TextBox 8">
            <a:extLst>
              <a:ext uri="{FF2B5EF4-FFF2-40B4-BE49-F238E27FC236}">
                <a16:creationId xmlns:a16="http://schemas.microsoft.com/office/drawing/2014/main" id="{9F1199D9-9787-D396-CA48-65AD21A6DBD2}"/>
              </a:ext>
            </a:extLst>
          </p:cNvPr>
          <p:cNvSpPr txBox="1"/>
          <p:nvPr/>
        </p:nvSpPr>
        <p:spPr>
          <a:xfrm>
            <a:off x="1200063" y="884113"/>
            <a:ext cx="5409444" cy="369332"/>
          </a:xfrm>
          <a:prstGeom prst="rect">
            <a:avLst/>
          </a:prstGeom>
          <a:noFill/>
        </p:spPr>
        <p:txBody>
          <a:bodyPr wrap="square">
            <a:spAutoFit/>
          </a:bodyPr>
          <a:lstStyle/>
          <a:p>
            <a:r>
              <a:rPr lang="en-US" b="0" i="0" dirty="0">
                <a:solidFill>
                  <a:srgbClr val="3C4043"/>
                </a:solidFill>
                <a:effectLst/>
                <a:latin typeface="Roboto" panose="02000000000000000000" pitchFamily="2" charset="0"/>
              </a:rPr>
              <a:t>4. Start the system</a:t>
            </a:r>
            <a:endParaRPr lang="en-US" dirty="0"/>
          </a:p>
        </p:txBody>
      </p:sp>
      <p:pic>
        <p:nvPicPr>
          <p:cNvPr id="4" name="Picture 3">
            <a:extLst>
              <a:ext uri="{FF2B5EF4-FFF2-40B4-BE49-F238E27FC236}">
                <a16:creationId xmlns:a16="http://schemas.microsoft.com/office/drawing/2014/main" id="{E732280C-E919-F73E-439B-395B27FC3F3D}"/>
              </a:ext>
            </a:extLst>
          </p:cNvPr>
          <p:cNvPicPr>
            <a:picLocks noChangeAspect="1"/>
          </p:cNvPicPr>
          <p:nvPr/>
        </p:nvPicPr>
        <p:blipFill>
          <a:blip r:embed="rId4"/>
          <a:stretch>
            <a:fillRect/>
          </a:stretch>
        </p:blipFill>
        <p:spPr>
          <a:xfrm>
            <a:off x="1434759" y="1347691"/>
            <a:ext cx="8487654" cy="3267276"/>
          </a:xfrm>
          <a:prstGeom prst="rect">
            <a:avLst/>
          </a:prstGeom>
        </p:spPr>
      </p:pic>
      <p:pic>
        <p:nvPicPr>
          <p:cNvPr id="8" name="Picture 7">
            <a:extLst>
              <a:ext uri="{FF2B5EF4-FFF2-40B4-BE49-F238E27FC236}">
                <a16:creationId xmlns:a16="http://schemas.microsoft.com/office/drawing/2014/main" id="{0742AF03-DA93-C9ED-CAD7-DA73D0A13DCB}"/>
              </a:ext>
            </a:extLst>
          </p:cNvPr>
          <p:cNvPicPr>
            <a:picLocks noChangeAspect="1"/>
          </p:cNvPicPr>
          <p:nvPr/>
        </p:nvPicPr>
        <p:blipFill>
          <a:blip r:embed="rId5"/>
          <a:stretch>
            <a:fillRect/>
          </a:stretch>
        </p:blipFill>
        <p:spPr>
          <a:xfrm>
            <a:off x="1434758" y="4675260"/>
            <a:ext cx="8487654" cy="2574795"/>
          </a:xfrm>
          <a:prstGeom prst="rect">
            <a:avLst/>
          </a:prstGeom>
        </p:spPr>
      </p:pic>
    </p:spTree>
    <p:extLst>
      <p:ext uri="{BB962C8B-B14F-4D97-AF65-F5344CB8AC3E}">
        <p14:creationId xmlns:p14="http://schemas.microsoft.com/office/powerpoint/2010/main" val="2919165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EE66F-5F4F-808B-A574-55DF6699C527}"/>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49A051F2-875A-D76C-9B21-38A4162B0FA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F7AD9B3B-6A93-313D-D4BD-8BADAD210F1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90E86AFE-40E2-B238-4D4E-B3B8B4F11F63}"/>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9" name="TextBox 8">
            <a:extLst>
              <a:ext uri="{FF2B5EF4-FFF2-40B4-BE49-F238E27FC236}">
                <a16:creationId xmlns:a16="http://schemas.microsoft.com/office/drawing/2014/main" id="{F72DE1D1-0F42-7EBA-BDA1-5520879811EF}"/>
              </a:ext>
            </a:extLst>
          </p:cNvPr>
          <p:cNvSpPr txBox="1"/>
          <p:nvPr/>
        </p:nvSpPr>
        <p:spPr>
          <a:xfrm>
            <a:off x="1209117" y="855314"/>
            <a:ext cx="5409444" cy="369332"/>
          </a:xfrm>
          <a:prstGeom prst="rect">
            <a:avLst/>
          </a:prstGeom>
          <a:noFill/>
        </p:spPr>
        <p:txBody>
          <a:bodyPr wrap="square">
            <a:spAutoFit/>
          </a:bodyPr>
          <a:lstStyle/>
          <a:p>
            <a:r>
              <a:rPr lang="en-US" b="0" i="0" dirty="0">
                <a:solidFill>
                  <a:srgbClr val="3C4043"/>
                </a:solidFill>
                <a:effectLst/>
                <a:latin typeface="Roboto" panose="02000000000000000000" pitchFamily="2" charset="0"/>
              </a:rPr>
              <a:t>4. Start the system</a:t>
            </a:r>
            <a:endParaRPr lang="en-US" dirty="0"/>
          </a:p>
        </p:txBody>
      </p:sp>
      <p:pic>
        <p:nvPicPr>
          <p:cNvPr id="3" name="Picture 2">
            <a:extLst>
              <a:ext uri="{FF2B5EF4-FFF2-40B4-BE49-F238E27FC236}">
                <a16:creationId xmlns:a16="http://schemas.microsoft.com/office/drawing/2014/main" id="{C13DB15F-C1CB-EAEB-4E50-09E2236BC68E}"/>
              </a:ext>
            </a:extLst>
          </p:cNvPr>
          <p:cNvPicPr>
            <a:picLocks noChangeAspect="1"/>
          </p:cNvPicPr>
          <p:nvPr/>
        </p:nvPicPr>
        <p:blipFill>
          <a:blip r:embed="rId5"/>
          <a:stretch>
            <a:fillRect/>
          </a:stretch>
        </p:blipFill>
        <p:spPr>
          <a:xfrm>
            <a:off x="1394233" y="1424785"/>
            <a:ext cx="8312339" cy="5276401"/>
          </a:xfrm>
          <a:prstGeom prst="rect">
            <a:avLst/>
          </a:prstGeom>
        </p:spPr>
      </p:pic>
    </p:spTree>
    <p:extLst>
      <p:ext uri="{BB962C8B-B14F-4D97-AF65-F5344CB8AC3E}">
        <p14:creationId xmlns:p14="http://schemas.microsoft.com/office/powerpoint/2010/main" val="3189825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3D34-DB59-90C5-5570-75B9BAC6F6C9}"/>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4D9A7A85-BEAC-CC08-8CBB-4745A20E544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17" y="0"/>
            <a:ext cx="10692383" cy="7556500"/>
          </a:xfrm>
          <a:prstGeom prst="rect">
            <a:avLst/>
          </a:prstGeom>
          <a:noFill/>
        </p:spPr>
      </p:pic>
      <p:pic>
        <p:nvPicPr>
          <p:cNvPr id="108" name="Picture 108">
            <a:extLst>
              <a:ext uri="{FF2B5EF4-FFF2-40B4-BE49-F238E27FC236}">
                <a16:creationId xmlns:a16="http://schemas.microsoft.com/office/drawing/2014/main" id="{F46AA42A-0192-7867-88B0-C8FB21D723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E6A031F3-CA66-E3DE-F4D6-D191F7C7E4E4}"/>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0D882812-BEAB-255D-D382-045E136DB0CE}"/>
              </a:ext>
            </a:extLst>
          </p:cNvPr>
          <p:cNvSpPr txBox="1"/>
          <p:nvPr/>
        </p:nvSpPr>
        <p:spPr>
          <a:xfrm>
            <a:off x="1261625" y="894357"/>
            <a:ext cx="6712926" cy="369332"/>
          </a:xfrm>
          <a:prstGeom prst="rect">
            <a:avLst/>
          </a:prstGeom>
          <a:noFill/>
        </p:spPr>
        <p:txBody>
          <a:bodyPr wrap="square">
            <a:spAutoFit/>
          </a:bodyPr>
          <a:lstStyle/>
          <a:p>
            <a:r>
              <a:rPr lang="en-US" dirty="0"/>
              <a:t>*. Recommend replace new password</a:t>
            </a:r>
          </a:p>
        </p:txBody>
      </p:sp>
      <p:pic>
        <p:nvPicPr>
          <p:cNvPr id="4" name="Picture 3">
            <a:extLst>
              <a:ext uri="{FF2B5EF4-FFF2-40B4-BE49-F238E27FC236}">
                <a16:creationId xmlns:a16="http://schemas.microsoft.com/office/drawing/2014/main" id="{5D5BD577-B22A-D50D-85FB-877A57D8F2E5}"/>
              </a:ext>
            </a:extLst>
          </p:cNvPr>
          <p:cNvPicPr>
            <a:picLocks noChangeAspect="1"/>
          </p:cNvPicPr>
          <p:nvPr/>
        </p:nvPicPr>
        <p:blipFill>
          <a:blip r:embed="rId4"/>
          <a:stretch>
            <a:fillRect/>
          </a:stretch>
        </p:blipFill>
        <p:spPr>
          <a:xfrm>
            <a:off x="1367073" y="2158046"/>
            <a:ext cx="8555339" cy="5024971"/>
          </a:xfrm>
          <a:prstGeom prst="rect">
            <a:avLst/>
          </a:prstGeom>
        </p:spPr>
      </p:pic>
      <p:sp>
        <p:nvSpPr>
          <p:cNvPr id="7" name="TextBox 6">
            <a:extLst>
              <a:ext uri="{FF2B5EF4-FFF2-40B4-BE49-F238E27FC236}">
                <a16:creationId xmlns:a16="http://schemas.microsoft.com/office/drawing/2014/main" id="{27434D60-8014-90BE-C654-0C7167B9558E}"/>
              </a:ext>
            </a:extLst>
          </p:cNvPr>
          <p:cNvSpPr txBox="1"/>
          <p:nvPr/>
        </p:nvSpPr>
        <p:spPr>
          <a:xfrm>
            <a:off x="1783463" y="1315336"/>
            <a:ext cx="8758630" cy="646331"/>
          </a:xfrm>
          <a:prstGeom prst="rect">
            <a:avLst/>
          </a:prstGeom>
          <a:noFill/>
        </p:spPr>
        <p:txBody>
          <a:bodyPr wrap="square">
            <a:spAutoFit/>
          </a:bodyPr>
          <a:lstStyle/>
          <a:p>
            <a:r>
              <a:rPr lang="en-US" dirty="0"/>
              <a:t>https://documentation.wazuh.com/current/deployment-options/docker/changing-default-password.html</a:t>
            </a:r>
          </a:p>
        </p:txBody>
      </p:sp>
    </p:spTree>
    <p:extLst>
      <p:ext uri="{BB962C8B-B14F-4D97-AF65-F5344CB8AC3E}">
        <p14:creationId xmlns:p14="http://schemas.microsoft.com/office/powerpoint/2010/main" val="3906462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F0A98-C4E3-BE19-3126-3C24A8D15DD2}"/>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B9A9156D-DE69-51D2-1039-923873EF4C8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17" y="0"/>
            <a:ext cx="10692383" cy="7556500"/>
          </a:xfrm>
          <a:prstGeom prst="rect">
            <a:avLst/>
          </a:prstGeom>
          <a:noFill/>
        </p:spPr>
      </p:pic>
      <p:pic>
        <p:nvPicPr>
          <p:cNvPr id="108" name="Picture 108">
            <a:extLst>
              <a:ext uri="{FF2B5EF4-FFF2-40B4-BE49-F238E27FC236}">
                <a16:creationId xmlns:a16="http://schemas.microsoft.com/office/drawing/2014/main" id="{FF2CB060-3DF4-4877-5A81-9F263E5C77E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AACC4737-48D6-434A-108B-524FDDF36597}"/>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67DB4727-8353-2054-24C9-E3D812DA589B}"/>
              </a:ext>
            </a:extLst>
          </p:cNvPr>
          <p:cNvSpPr txBox="1"/>
          <p:nvPr/>
        </p:nvSpPr>
        <p:spPr>
          <a:xfrm>
            <a:off x="1261625" y="894357"/>
            <a:ext cx="6712926" cy="369332"/>
          </a:xfrm>
          <a:prstGeom prst="rect">
            <a:avLst/>
          </a:prstGeom>
          <a:noFill/>
        </p:spPr>
        <p:txBody>
          <a:bodyPr wrap="square">
            <a:spAutoFit/>
          </a:bodyPr>
          <a:lstStyle/>
          <a:p>
            <a:r>
              <a:rPr lang="en-US" dirty="0"/>
              <a:t>*. Recommend replace new password</a:t>
            </a:r>
          </a:p>
        </p:txBody>
      </p:sp>
      <p:sp>
        <p:nvSpPr>
          <p:cNvPr id="7" name="TextBox 6">
            <a:extLst>
              <a:ext uri="{FF2B5EF4-FFF2-40B4-BE49-F238E27FC236}">
                <a16:creationId xmlns:a16="http://schemas.microsoft.com/office/drawing/2014/main" id="{AC325006-9C1E-A3F3-4455-543943DCEF5B}"/>
              </a:ext>
            </a:extLst>
          </p:cNvPr>
          <p:cNvSpPr txBox="1"/>
          <p:nvPr/>
        </p:nvSpPr>
        <p:spPr>
          <a:xfrm>
            <a:off x="1783463" y="1315336"/>
            <a:ext cx="8758630" cy="646331"/>
          </a:xfrm>
          <a:prstGeom prst="rect">
            <a:avLst/>
          </a:prstGeom>
          <a:noFill/>
        </p:spPr>
        <p:txBody>
          <a:bodyPr wrap="square">
            <a:spAutoFit/>
          </a:bodyPr>
          <a:lstStyle/>
          <a:p>
            <a:r>
              <a:rPr lang="en-US" dirty="0"/>
              <a:t>https://documentation.wazuh.com/current/deployment-options/docker/changing-default-password.html</a:t>
            </a:r>
          </a:p>
        </p:txBody>
      </p:sp>
      <p:sp>
        <p:nvSpPr>
          <p:cNvPr id="3" name="TextBox 2">
            <a:extLst>
              <a:ext uri="{FF2B5EF4-FFF2-40B4-BE49-F238E27FC236}">
                <a16:creationId xmlns:a16="http://schemas.microsoft.com/office/drawing/2014/main" id="{7520DA42-393D-BB6B-E5F4-26D00936E2D5}"/>
              </a:ext>
            </a:extLst>
          </p:cNvPr>
          <p:cNvSpPr txBox="1"/>
          <p:nvPr/>
        </p:nvSpPr>
        <p:spPr>
          <a:xfrm>
            <a:off x="1630947" y="2173256"/>
            <a:ext cx="8205779"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 nano config/</a:t>
            </a:r>
            <a:r>
              <a:rPr lang="en-US" dirty="0" err="1"/>
              <a:t>wazuh_indexer</a:t>
            </a:r>
            <a:r>
              <a:rPr lang="en-US" dirty="0"/>
              <a:t>/</a:t>
            </a:r>
            <a:r>
              <a:rPr lang="en-US" dirty="0" err="1"/>
              <a:t>internal_users.yml</a:t>
            </a:r>
            <a:endParaRPr lang="en-US" dirty="0"/>
          </a:p>
        </p:txBody>
      </p:sp>
      <p:pic>
        <p:nvPicPr>
          <p:cNvPr id="6" name="Picture 5">
            <a:extLst>
              <a:ext uri="{FF2B5EF4-FFF2-40B4-BE49-F238E27FC236}">
                <a16:creationId xmlns:a16="http://schemas.microsoft.com/office/drawing/2014/main" id="{C647411B-BABD-829D-9195-C16FDEA8AD6D}"/>
              </a:ext>
            </a:extLst>
          </p:cNvPr>
          <p:cNvPicPr>
            <a:picLocks noChangeAspect="1"/>
          </p:cNvPicPr>
          <p:nvPr/>
        </p:nvPicPr>
        <p:blipFill>
          <a:blip r:embed="rId4"/>
          <a:stretch>
            <a:fillRect/>
          </a:stretch>
        </p:blipFill>
        <p:spPr>
          <a:xfrm>
            <a:off x="1640278" y="2906819"/>
            <a:ext cx="8281117" cy="4339746"/>
          </a:xfrm>
          <a:prstGeom prst="rect">
            <a:avLst/>
          </a:prstGeom>
        </p:spPr>
      </p:pic>
    </p:spTree>
    <p:extLst>
      <p:ext uri="{BB962C8B-B14F-4D97-AF65-F5344CB8AC3E}">
        <p14:creationId xmlns:p14="http://schemas.microsoft.com/office/powerpoint/2010/main" val="3097939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64E5-A59D-3811-ED82-2496566973F3}"/>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323E5D4A-C3D6-4AD5-9656-E054BA32A9A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17" y="0"/>
            <a:ext cx="10692383" cy="7556500"/>
          </a:xfrm>
          <a:prstGeom prst="rect">
            <a:avLst/>
          </a:prstGeom>
          <a:noFill/>
        </p:spPr>
      </p:pic>
      <p:pic>
        <p:nvPicPr>
          <p:cNvPr id="108" name="Picture 108">
            <a:extLst>
              <a:ext uri="{FF2B5EF4-FFF2-40B4-BE49-F238E27FC236}">
                <a16:creationId xmlns:a16="http://schemas.microsoft.com/office/drawing/2014/main" id="{374CF736-7A54-F0CB-D436-27EB996F017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2B2CCDE4-8CD4-306D-85FF-D7B4EBA8B781}"/>
              </a:ext>
            </a:extLst>
          </p:cNvPr>
          <p:cNvSpPr/>
          <p:nvPr/>
        </p:nvSpPr>
        <p:spPr>
          <a:xfrm>
            <a:off x="289426" y="174315"/>
            <a:ext cx="6131487" cy="615553"/>
          </a:xfrm>
          <a:prstGeom prst="rect">
            <a:avLst/>
          </a:prstGeom>
        </p:spPr>
        <p:txBody>
          <a:bodyPr wrap="none" lIns="0" tIns="0" rIns="0" bIns="0">
            <a:spAutoFit/>
          </a:bodyPr>
          <a:lstStyle/>
          <a:p>
            <a:pPr marL="0"/>
            <a:r>
              <a:rPr lang="en-US" sz="4000" dirty="0"/>
              <a:t>II. Setup and install </a:t>
            </a:r>
            <a:r>
              <a:rPr lang="en-US" sz="4000" dirty="0" err="1"/>
              <a:t>wazuh</a:t>
            </a:r>
            <a:endParaRPr lang="en-US" sz="3863" b="0" i="0" spc="0" baseline="0" dirty="0">
              <a:solidFill>
                <a:srgbClr val="0000FF"/>
              </a:solidFill>
              <a:latin typeface="TimesNewRomanPSMT"/>
            </a:endParaRPr>
          </a:p>
        </p:txBody>
      </p:sp>
      <p:sp>
        <p:nvSpPr>
          <p:cNvPr id="12" name="TextBox 11">
            <a:extLst>
              <a:ext uri="{FF2B5EF4-FFF2-40B4-BE49-F238E27FC236}">
                <a16:creationId xmlns:a16="http://schemas.microsoft.com/office/drawing/2014/main" id="{2F2F14EF-C943-C423-7DCB-B2006B6FAF4E}"/>
              </a:ext>
            </a:extLst>
          </p:cNvPr>
          <p:cNvSpPr txBox="1"/>
          <p:nvPr/>
        </p:nvSpPr>
        <p:spPr>
          <a:xfrm>
            <a:off x="1261625" y="894357"/>
            <a:ext cx="6712926" cy="369332"/>
          </a:xfrm>
          <a:prstGeom prst="rect">
            <a:avLst/>
          </a:prstGeom>
          <a:noFill/>
        </p:spPr>
        <p:txBody>
          <a:bodyPr wrap="square">
            <a:spAutoFit/>
          </a:bodyPr>
          <a:lstStyle/>
          <a:p>
            <a:r>
              <a:rPr lang="en-US" dirty="0"/>
              <a:t>*. Recommend replace new password</a:t>
            </a:r>
          </a:p>
        </p:txBody>
      </p:sp>
      <p:sp>
        <p:nvSpPr>
          <p:cNvPr id="7" name="TextBox 6">
            <a:extLst>
              <a:ext uri="{FF2B5EF4-FFF2-40B4-BE49-F238E27FC236}">
                <a16:creationId xmlns:a16="http://schemas.microsoft.com/office/drawing/2014/main" id="{B780EEF5-5B89-A330-54AE-2EC93BDE93D0}"/>
              </a:ext>
            </a:extLst>
          </p:cNvPr>
          <p:cNvSpPr txBox="1"/>
          <p:nvPr/>
        </p:nvSpPr>
        <p:spPr>
          <a:xfrm>
            <a:off x="1783463" y="1315336"/>
            <a:ext cx="8758630" cy="646331"/>
          </a:xfrm>
          <a:prstGeom prst="rect">
            <a:avLst/>
          </a:prstGeom>
          <a:noFill/>
        </p:spPr>
        <p:txBody>
          <a:bodyPr wrap="square">
            <a:spAutoFit/>
          </a:bodyPr>
          <a:lstStyle/>
          <a:p>
            <a:r>
              <a:rPr lang="en-US" dirty="0"/>
              <a:t>https://documentation.wazuh.com/current/deployment-options/docker/changing-default-password.html</a:t>
            </a:r>
          </a:p>
        </p:txBody>
      </p:sp>
      <p:sp>
        <p:nvSpPr>
          <p:cNvPr id="3" name="TextBox 2">
            <a:extLst>
              <a:ext uri="{FF2B5EF4-FFF2-40B4-BE49-F238E27FC236}">
                <a16:creationId xmlns:a16="http://schemas.microsoft.com/office/drawing/2014/main" id="{2C9632BC-73D7-9C05-FF79-FBE3F22860DB}"/>
              </a:ext>
            </a:extLst>
          </p:cNvPr>
          <p:cNvSpPr txBox="1"/>
          <p:nvPr/>
        </p:nvSpPr>
        <p:spPr>
          <a:xfrm>
            <a:off x="1536827" y="2173256"/>
            <a:ext cx="8299900"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 docker exec -it single-node-wazuh.indexer-1 bash</a:t>
            </a:r>
          </a:p>
        </p:txBody>
      </p:sp>
      <p:sp>
        <p:nvSpPr>
          <p:cNvPr id="4" name="TextBox 3">
            <a:extLst>
              <a:ext uri="{FF2B5EF4-FFF2-40B4-BE49-F238E27FC236}">
                <a16:creationId xmlns:a16="http://schemas.microsoft.com/office/drawing/2014/main" id="{F412B781-AE54-0875-E37E-4A6EF4CF4A9C}"/>
              </a:ext>
            </a:extLst>
          </p:cNvPr>
          <p:cNvSpPr txBox="1"/>
          <p:nvPr/>
        </p:nvSpPr>
        <p:spPr>
          <a:xfrm>
            <a:off x="1536826" y="2698147"/>
            <a:ext cx="8299900"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export INSTALLATION_DIR=/</a:t>
            </a:r>
            <a:r>
              <a:rPr lang="en-US" dirty="0" err="1"/>
              <a:t>usr</a:t>
            </a:r>
            <a:r>
              <a:rPr lang="en-US" dirty="0"/>
              <a:t>/share/</a:t>
            </a:r>
            <a:r>
              <a:rPr lang="en-US" dirty="0" err="1"/>
              <a:t>wazuh</a:t>
            </a:r>
            <a:r>
              <a:rPr lang="en-US" dirty="0"/>
              <a:t>-indexer</a:t>
            </a:r>
          </a:p>
          <a:p>
            <a:r>
              <a:rPr lang="en-US" dirty="0"/>
              <a:t>export CONFIG_DIR=$INSTALLATION_DIR/config</a:t>
            </a:r>
          </a:p>
          <a:p>
            <a:r>
              <a:rPr lang="en-US" dirty="0"/>
              <a:t>CACERT=$CONFIG_DIR/certs/root-</a:t>
            </a:r>
            <a:r>
              <a:rPr lang="en-US" dirty="0" err="1"/>
              <a:t>ca.pem</a:t>
            </a:r>
            <a:endParaRPr lang="en-US" dirty="0"/>
          </a:p>
          <a:p>
            <a:r>
              <a:rPr lang="en-US" dirty="0"/>
              <a:t>KEY=$CONFIG_DIR/certs/admin-</a:t>
            </a:r>
            <a:r>
              <a:rPr lang="en-US" dirty="0" err="1"/>
              <a:t>key.pem</a:t>
            </a:r>
            <a:endParaRPr lang="en-US" dirty="0"/>
          </a:p>
          <a:p>
            <a:r>
              <a:rPr lang="en-US" dirty="0"/>
              <a:t>CERT=$CONFIG_DIR/certs/</a:t>
            </a:r>
            <a:r>
              <a:rPr lang="en-US" dirty="0" err="1"/>
              <a:t>admin.pem</a:t>
            </a:r>
            <a:endParaRPr lang="en-US" dirty="0"/>
          </a:p>
          <a:p>
            <a:r>
              <a:rPr lang="en-US" dirty="0"/>
              <a:t>export JAVA_HOME=/</a:t>
            </a:r>
            <a:r>
              <a:rPr lang="en-US" dirty="0" err="1"/>
              <a:t>usr</a:t>
            </a:r>
            <a:r>
              <a:rPr lang="en-US" dirty="0"/>
              <a:t>/share/</a:t>
            </a:r>
            <a:r>
              <a:rPr lang="en-US" dirty="0" err="1"/>
              <a:t>wazuh</a:t>
            </a:r>
            <a:r>
              <a:rPr lang="en-US" dirty="0"/>
              <a:t>-indexer/</a:t>
            </a:r>
            <a:r>
              <a:rPr lang="en-US" dirty="0" err="1"/>
              <a:t>jdk</a:t>
            </a:r>
            <a:endParaRPr lang="en-US" dirty="0"/>
          </a:p>
        </p:txBody>
      </p:sp>
      <p:sp>
        <p:nvSpPr>
          <p:cNvPr id="8" name="TextBox 7">
            <a:extLst>
              <a:ext uri="{FF2B5EF4-FFF2-40B4-BE49-F238E27FC236}">
                <a16:creationId xmlns:a16="http://schemas.microsoft.com/office/drawing/2014/main" id="{52BBFEF6-980C-0B7F-496F-2D6BA7FC542D}"/>
              </a:ext>
            </a:extLst>
          </p:cNvPr>
          <p:cNvSpPr txBox="1"/>
          <p:nvPr/>
        </p:nvSpPr>
        <p:spPr>
          <a:xfrm>
            <a:off x="1536825" y="4608032"/>
            <a:ext cx="8299899"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bash /usr/share/wazuh-indexer/plugins/opensearch-security/tools/securityadmin.sh -cd $CONFIG_DIR/</a:t>
            </a:r>
            <a:r>
              <a:rPr lang="en-US" dirty="0" err="1"/>
              <a:t>opensearch</a:t>
            </a:r>
            <a:r>
              <a:rPr lang="en-US" dirty="0"/>
              <a:t>-security/ -</a:t>
            </a:r>
            <a:r>
              <a:rPr lang="en-US" dirty="0" err="1"/>
              <a:t>nhnv</a:t>
            </a:r>
            <a:r>
              <a:rPr lang="en-US" dirty="0"/>
              <a:t> -</a:t>
            </a:r>
            <a:r>
              <a:rPr lang="en-US" dirty="0" err="1"/>
              <a:t>cacert</a:t>
            </a:r>
            <a:r>
              <a:rPr lang="en-US" dirty="0"/>
              <a:t>  $CACERT -cert $CERT -key $KEY -p 9200 –</a:t>
            </a:r>
            <a:r>
              <a:rPr lang="en-US" dirty="0" err="1"/>
              <a:t>icl</a:t>
            </a:r>
            <a:endParaRPr lang="en-US" dirty="0"/>
          </a:p>
          <a:p>
            <a:endParaRPr lang="en-US" dirty="0"/>
          </a:p>
        </p:txBody>
      </p:sp>
      <p:sp>
        <p:nvSpPr>
          <p:cNvPr id="14" name="TextBox 13">
            <a:extLst>
              <a:ext uri="{FF2B5EF4-FFF2-40B4-BE49-F238E27FC236}">
                <a16:creationId xmlns:a16="http://schemas.microsoft.com/office/drawing/2014/main" id="{F2303203-5316-930F-1304-0D80C410DD7E}"/>
              </a:ext>
            </a:extLst>
          </p:cNvPr>
          <p:cNvSpPr txBox="1"/>
          <p:nvPr/>
        </p:nvSpPr>
        <p:spPr>
          <a:xfrm>
            <a:off x="1536825" y="6056498"/>
            <a:ext cx="5409444"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docker compose down </a:t>
            </a:r>
          </a:p>
          <a:p>
            <a:r>
              <a:rPr lang="en-US" dirty="0"/>
              <a:t>docker compose up -d</a:t>
            </a:r>
          </a:p>
        </p:txBody>
      </p:sp>
    </p:spTree>
    <p:extLst>
      <p:ext uri="{BB962C8B-B14F-4D97-AF65-F5344CB8AC3E}">
        <p14:creationId xmlns:p14="http://schemas.microsoft.com/office/powerpoint/2010/main" val="542914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2A864-8ADA-CB23-AF1C-1BFE70593D6B}"/>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98ADD7CD-092F-A930-9389-2611E5B7073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8A0BB093-0D01-4533-3146-44A90EDBE1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DBCF2627-F81A-9D26-3F6A-2A4D508CEEDF}"/>
              </a:ext>
            </a:extLst>
          </p:cNvPr>
          <p:cNvSpPr/>
          <p:nvPr/>
        </p:nvSpPr>
        <p:spPr>
          <a:xfrm>
            <a:off x="289426" y="174315"/>
            <a:ext cx="4760919" cy="615553"/>
          </a:xfrm>
          <a:prstGeom prst="rect">
            <a:avLst/>
          </a:prstGeom>
        </p:spPr>
        <p:txBody>
          <a:bodyPr wrap="none" lIns="0" tIns="0" rIns="0" bIns="0">
            <a:spAutoFit/>
          </a:bodyPr>
          <a:lstStyle/>
          <a:p>
            <a:pPr marL="0"/>
            <a:r>
              <a:rPr lang="en-US" sz="4000" dirty="0"/>
              <a:t>III. Access </a:t>
            </a:r>
            <a:r>
              <a:rPr lang="en-US" sz="4000" dirty="0" err="1"/>
              <a:t>Wazuh</a:t>
            </a:r>
            <a:r>
              <a:rPr lang="en-US" sz="4000" dirty="0"/>
              <a:t> UI</a:t>
            </a:r>
            <a:endParaRPr lang="en-US" sz="3863" b="0" i="0" spc="0" baseline="0" dirty="0">
              <a:solidFill>
                <a:srgbClr val="0000FF"/>
              </a:solidFill>
              <a:latin typeface="TimesNewRomanPSMT"/>
            </a:endParaRPr>
          </a:p>
        </p:txBody>
      </p:sp>
      <p:sp>
        <p:nvSpPr>
          <p:cNvPr id="2" name="TextBox 1">
            <a:extLst>
              <a:ext uri="{FF2B5EF4-FFF2-40B4-BE49-F238E27FC236}">
                <a16:creationId xmlns:a16="http://schemas.microsoft.com/office/drawing/2014/main" id="{32572244-189F-2A4D-9F0E-3AFCC1DA479F}"/>
              </a:ext>
            </a:extLst>
          </p:cNvPr>
          <p:cNvSpPr txBox="1"/>
          <p:nvPr/>
        </p:nvSpPr>
        <p:spPr>
          <a:xfrm>
            <a:off x="1209117" y="855314"/>
            <a:ext cx="5409444" cy="369332"/>
          </a:xfrm>
          <a:prstGeom prst="rect">
            <a:avLst/>
          </a:prstGeom>
          <a:noFill/>
        </p:spPr>
        <p:txBody>
          <a:bodyPr wrap="square">
            <a:spAutoFit/>
          </a:bodyPr>
          <a:lstStyle/>
          <a:p>
            <a:r>
              <a:rPr lang="en-US" dirty="0">
                <a:solidFill>
                  <a:srgbClr val="3C4043"/>
                </a:solidFill>
                <a:latin typeface="Roboto" panose="02000000000000000000" pitchFamily="2" charset="0"/>
              </a:rPr>
              <a:t>1</a:t>
            </a:r>
            <a:r>
              <a:rPr lang="en-US" b="0" i="0" dirty="0">
                <a:solidFill>
                  <a:srgbClr val="3C4043"/>
                </a:solidFill>
                <a:effectLst/>
                <a:latin typeface="Roboto" panose="02000000000000000000" pitchFamily="2" charset="0"/>
              </a:rPr>
              <a:t>. Login</a:t>
            </a:r>
            <a:endParaRPr lang="en-US" dirty="0"/>
          </a:p>
        </p:txBody>
      </p:sp>
      <p:pic>
        <p:nvPicPr>
          <p:cNvPr id="5" name="Picture 4">
            <a:extLst>
              <a:ext uri="{FF2B5EF4-FFF2-40B4-BE49-F238E27FC236}">
                <a16:creationId xmlns:a16="http://schemas.microsoft.com/office/drawing/2014/main" id="{9ECDFEFE-ED38-2A12-A617-50AEA30A1F2E}"/>
              </a:ext>
            </a:extLst>
          </p:cNvPr>
          <p:cNvPicPr>
            <a:picLocks noChangeAspect="1"/>
          </p:cNvPicPr>
          <p:nvPr/>
        </p:nvPicPr>
        <p:blipFill>
          <a:blip r:embed="rId5"/>
          <a:stretch>
            <a:fillRect/>
          </a:stretch>
        </p:blipFill>
        <p:spPr>
          <a:xfrm>
            <a:off x="1209117" y="1224646"/>
            <a:ext cx="7337354" cy="3374513"/>
          </a:xfrm>
          <a:prstGeom prst="rect">
            <a:avLst/>
          </a:prstGeom>
        </p:spPr>
      </p:pic>
      <p:sp>
        <p:nvSpPr>
          <p:cNvPr id="7" name="TextBox 6">
            <a:extLst>
              <a:ext uri="{FF2B5EF4-FFF2-40B4-BE49-F238E27FC236}">
                <a16:creationId xmlns:a16="http://schemas.microsoft.com/office/drawing/2014/main" id="{E791B21A-FF58-207D-E88F-B31A6AA73476}"/>
              </a:ext>
            </a:extLst>
          </p:cNvPr>
          <p:cNvSpPr txBox="1"/>
          <p:nvPr/>
        </p:nvSpPr>
        <p:spPr>
          <a:xfrm>
            <a:off x="1209116" y="4692834"/>
            <a:ext cx="8740641" cy="646331"/>
          </a:xfrm>
          <a:prstGeom prst="rect">
            <a:avLst/>
          </a:prstGeom>
          <a:noFill/>
        </p:spPr>
        <p:txBody>
          <a:bodyPr wrap="square">
            <a:spAutoFit/>
          </a:bodyPr>
          <a:lstStyle/>
          <a:p>
            <a:r>
              <a:rPr lang="en-US" b="0" i="0" dirty="0">
                <a:solidFill>
                  <a:srgbClr val="3C4043"/>
                </a:solidFill>
                <a:effectLst/>
                <a:latin typeface="Roboto" panose="02000000000000000000" pitchFamily="2" charset="0"/>
              </a:rPr>
              <a:t>User: admin </a:t>
            </a:r>
          </a:p>
          <a:p>
            <a:r>
              <a:rPr lang="en-US" b="0" i="0" dirty="0">
                <a:solidFill>
                  <a:srgbClr val="3C4043"/>
                </a:solidFill>
                <a:effectLst/>
                <a:latin typeface="Roboto" panose="02000000000000000000" pitchFamily="2" charset="0"/>
              </a:rPr>
              <a:t>Password: Your password</a:t>
            </a:r>
            <a:endParaRPr lang="en-US" dirty="0"/>
          </a:p>
        </p:txBody>
      </p:sp>
    </p:spTree>
    <p:extLst>
      <p:ext uri="{BB962C8B-B14F-4D97-AF65-F5344CB8AC3E}">
        <p14:creationId xmlns:p14="http://schemas.microsoft.com/office/powerpoint/2010/main" val="25722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1D99-5165-DAD8-4BB4-BF1B724866CB}"/>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855156A6-F69F-CF39-D528-A5CBA5E333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ABBBBCEE-830B-EC9D-6423-92803931B45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C3A19949-FCE7-6B35-40F3-36B1C6C0EF26}"/>
              </a:ext>
            </a:extLst>
          </p:cNvPr>
          <p:cNvSpPr/>
          <p:nvPr/>
        </p:nvSpPr>
        <p:spPr>
          <a:xfrm>
            <a:off x="289426" y="174315"/>
            <a:ext cx="4760919" cy="615553"/>
          </a:xfrm>
          <a:prstGeom prst="rect">
            <a:avLst/>
          </a:prstGeom>
        </p:spPr>
        <p:txBody>
          <a:bodyPr wrap="none" lIns="0" tIns="0" rIns="0" bIns="0">
            <a:spAutoFit/>
          </a:bodyPr>
          <a:lstStyle/>
          <a:p>
            <a:pPr marL="0"/>
            <a:r>
              <a:rPr lang="en-US" sz="4000" dirty="0"/>
              <a:t>III. Access </a:t>
            </a:r>
            <a:r>
              <a:rPr lang="en-US" sz="4000" dirty="0" err="1"/>
              <a:t>Wazuh</a:t>
            </a:r>
            <a:r>
              <a:rPr lang="en-US" sz="4000" dirty="0"/>
              <a:t> UI</a:t>
            </a:r>
            <a:endParaRPr lang="en-US" sz="3863" b="0" i="0" spc="0" baseline="0" dirty="0">
              <a:solidFill>
                <a:srgbClr val="0000FF"/>
              </a:solidFill>
              <a:latin typeface="TimesNewRomanPSMT"/>
            </a:endParaRPr>
          </a:p>
        </p:txBody>
      </p:sp>
      <p:sp>
        <p:nvSpPr>
          <p:cNvPr id="2" name="TextBox 1">
            <a:extLst>
              <a:ext uri="{FF2B5EF4-FFF2-40B4-BE49-F238E27FC236}">
                <a16:creationId xmlns:a16="http://schemas.microsoft.com/office/drawing/2014/main" id="{EE1AA257-F848-CB66-A2D4-FF31B0FFC809}"/>
              </a:ext>
            </a:extLst>
          </p:cNvPr>
          <p:cNvSpPr txBox="1"/>
          <p:nvPr/>
        </p:nvSpPr>
        <p:spPr>
          <a:xfrm>
            <a:off x="1209117" y="855314"/>
            <a:ext cx="5409444" cy="369332"/>
          </a:xfrm>
          <a:prstGeom prst="rect">
            <a:avLst/>
          </a:prstGeom>
          <a:noFill/>
        </p:spPr>
        <p:txBody>
          <a:bodyPr wrap="square">
            <a:spAutoFit/>
          </a:bodyPr>
          <a:lstStyle/>
          <a:p>
            <a:r>
              <a:rPr lang="en-US" b="0" i="0" dirty="0">
                <a:solidFill>
                  <a:srgbClr val="3C4043"/>
                </a:solidFill>
                <a:effectLst/>
                <a:latin typeface="Roboto" panose="02000000000000000000" pitchFamily="2" charset="0"/>
              </a:rPr>
              <a:t>2. </a:t>
            </a:r>
            <a:r>
              <a:rPr lang="en-US" dirty="0">
                <a:solidFill>
                  <a:srgbClr val="3C4043"/>
                </a:solidFill>
                <a:latin typeface="Roboto" panose="02000000000000000000" pitchFamily="2" charset="0"/>
              </a:rPr>
              <a:t>Dashboard</a:t>
            </a:r>
            <a:endParaRPr lang="en-US" dirty="0"/>
          </a:p>
        </p:txBody>
      </p:sp>
      <p:pic>
        <p:nvPicPr>
          <p:cNvPr id="8" name="Picture 7">
            <a:extLst>
              <a:ext uri="{FF2B5EF4-FFF2-40B4-BE49-F238E27FC236}">
                <a16:creationId xmlns:a16="http://schemas.microsoft.com/office/drawing/2014/main" id="{335E4BD2-AE25-3C53-5350-92A38A7FEB45}"/>
              </a:ext>
            </a:extLst>
          </p:cNvPr>
          <p:cNvPicPr>
            <a:picLocks noChangeAspect="1"/>
          </p:cNvPicPr>
          <p:nvPr/>
        </p:nvPicPr>
        <p:blipFill>
          <a:blip r:embed="rId5"/>
          <a:stretch>
            <a:fillRect/>
          </a:stretch>
        </p:blipFill>
        <p:spPr>
          <a:xfrm>
            <a:off x="-1017" y="1394137"/>
            <a:ext cx="10693400" cy="4967402"/>
          </a:xfrm>
          <a:prstGeom prst="rect">
            <a:avLst/>
          </a:prstGeom>
        </p:spPr>
      </p:pic>
    </p:spTree>
    <p:extLst>
      <p:ext uri="{BB962C8B-B14F-4D97-AF65-F5344CB8AC3E}">
        <p14:creationId xmlns:p14="http://schemas.microsoft.com/office/powerpoint/2010/main" val="2914267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E36D-CCC7-1784-ECF3-0C127DE1119A}"/>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F760A515-4515-7392-719B-8107F06B2B6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1D80E815-F34A-F6BB-D156-56EF685339F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26871F10-7EB7-1617-3B73-20113ABEC5C7}"/>
              </a:ext>
            </a:extLst>
          </p:cNvPr>
          <p:cNvSpPr/>
          <p:nvPr/>
        </p:nvSpPr>
        <p:spPr>
          <a:xfrm>
            <a:off x="289426" y="174315"/>
            <a:ext cx="4876335" cy="615553"/>
          </a:xfrm>
          <a:prstGeom prst="rect">
            <a:avLst/>
          </a:prstGeom>
        </p:spPr>
        <p:txBody>
          <a:bodyPr wrap="none" lIns="0" tIns="0" rIns="0" bIns="0">
            <a:spAutoFit/>
          </a:bodyPr>
          <a:lstStyle/>
          <a:p>
            <a:pPr marL="0"/>
            <a:r>
              <a:rPr lang="en-US" sz="4000" dirty="0"/>
              <a:t>IV. Deploy new agent</a:t>
            </a:r>
            <a:endParaRPr lang="en-US" sz="3863" b="0" i="0" spc="0" baseline="0" dirty="0">
              <a:solidFill>
                <a:srgbClr val="0000FF"/>
              </a:solidFill>
              <a:latin typeface="TimesNewRomanPSMT"/>
            </a:endParaRPr>
          </a:p>
        </p:txBody>
      </p:sp>
      <p:sp>
        <p:nvSpPr>
          <p:cNvPr id="2" name="TextBox 1">
            <a:extLst>
              <a:ext uri="{FF2B5EF4-FFF2-40B4-BE49-F238E27FC236}">
                <a16:creationId xmlns:a16="http://schemas.microsoft.com/office/drawing/2014/main" id="{71182668-746C-2DF2-AF22-4582ECD6A27B}"/>
              </a:ext>
            </a:extLst>
          </p:cNvPr>
          <p:cNvSpPr txBox="1"/>
          <p:nvPr/>
        </p:nvSpPr>
        <p:spPr>
          <a:xfrm>
            <a:off x="1209117" y="855314"/>
            <a:ext cx="5409444" cy="369332"/>
          </a:xfrm>
          <a:prstGeom prst="rect">
            <a:avLst/>
          </a:prstGeom>
          <a:noFill/>
        </p:spPr>
        <p:txBody>
          <a:bodyPr wrap="square">
            <a:spAutoFit/>
          </a:bodyPr>
          <a:lstStyle/>
          <a:p>
            <a:r>
              <a:rPr lang="en-US" dirty="0">
                <a:solidFill>
                  <a:srgbClr val="3C4043"/>
                </a:solidFill>
                <a:latin typeface="Roboto" panose="02000000000000000000" pitchFamily="2" charset="0"/>
              </a:rPr>
              <a:t>1. Linux/Ubuntu &amp; Windows</a:t>
            </a:r>
            <a:endParaRPr lang="en-US" dirty="0"/>
          </a:p>
        </p:txBody>
      </p:sp>
      <p:pic>
        <p:nvPicPr>
          <p:cNvPr id="8" name="Picture 7">
            <a:extLst>
              <a:ext uri="{FF2B5EF4-FFF2-40B4-BE49-F238E27FC236}">
                <a16:creationId xmlns:a16="http://schemas.microsoft.com/office/drawing/2014/main" id="{9C0CD31D-40A4-E2F6-AC6C-ED320F7FB2E2}"/>
              </a:ext>
            </a:extLst>
          </p:cNvPr>
          <p:cNvPicPr>
            <a:picLocks noChangeAspect="1"/>
          </p:cNvPicPr>
          <p:nvPr/>
        </p:nvPicPr>
        <p:blipFill>
          <a:blip r:embed="rId5"/>
          <a:stretch>
            <a:fillRect/>
          </a:stretch>
        </p:blipFill>
        <p:spPr>
          <a:xfrm>
            <a:off x="-1017" y="1394137"/>
            <a:ext cx="10693400" cy="4967402"/>
          </a:xfrm>
          <a:prstGeom prst="rect">
            <a:avLst/>
          </a:prstGeom>
        </p:spPr>
      </p:pic>
      <p:sp>
        <p:nvSpPr>
          <p:cNvPr id="4" name="TextBox 3">
            <a:extLst>
              <a:ext uri="{FF2B5EF4-FFF2-40B4-BE49-F238E27FC236}">
                <a16:creationId xmlns:a16="http://schemas.microsoft.com/office/drawing/2014/main" id="{220FBBAE-B1BC-11BD-7577-1630179E00AE}"/>
              </a:ext>
            </a:extLst>
          </p:cNvPr>
          <p:cNvSpPr txBox="1"/>
          <p:nvPr/>
        </p:nvSpPr>
        <p:spPr>
          <a:xfrm>
            <a:off x="1636415" y="6677242"/>
            <a:ext cx="5409444" cy="369332"/>
          </a:xfrm>
          <a:prstGeom prst="rect">
            <a:avLst/>
          </a:prstGeom>
          <a:noFill/>
        </p:spPr>
        <p:txBody>
          <a:bodyPr wrap="square">
            <a:spAutoFit/>
          </a:bodyPr>
          <a:lstStyle/>
          <a:p>
            <a:r>
              <a:rPr lang="en-US" dirty="0" err="1"/>
              <a:t>sudo</a:t>
            </a:r>
            <a:r>
              <a:rPr lang="en-US" dirty="0"/>
              <a:t> </a:t>
            </a:r>
            <a:r>
              <a:rPr lang="en-US" dirty="0" err="1"/>
              <a:t>systemctl</a:t>
            </a:r>
            <a:r>
              <a:rPr lang="en-US" dirty="0"/>
              <a:t> restart </a:t>
            </a:r>
            <a:r>
              <a:rPr lang="en-US" dirty="0" err="1"/>
              <a:t>wazuh</a:t>
            </a:r>
            <a:r>
              <a:rPr lang="en-US" dirty="0"/>
              <a:t>-agent</a:t>
            </a:r>
          </a:p>
        </p:txBody>
      </p:sp>
    </p:spTree>
    <p:extLst>
      <p:ext uri="{BB962C8B-B14F-4D97-AF65-F5344CB8AC3E}">
        <p14:creationId xmlns:p14="http://schemas.microsoft.com/office/powerpoint/2010/main" val="2248539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 name="Picture 1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306" name="Picture 10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125456" y="6184900"/>
            <a:ext cx="469391" cy="563880"/>
          </a:xfrm>
          <a:prstGeom prst="rect">
            <a:avLst/>
          </a:prstGeom>
          <a:noFill/>
        </p:spPr>
      </p:pic>
      <p:pic>
        <p:nvPicPr>
          <p:cNvPr id="307" name="Picture 30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310128" y="3450844"/>
            <a:ext cx="3398520" cy="621791"/>
          </a:xfrm>
          <a:prstGeom prst="rect">
            <a:avLst/>
          </a:prstGeom>
          <a:noFill/>
        </p:spPr>
      </p:pic>
      <p:pic>
        <p:nvPicPr>
          <p:cNvPr id="308" name="Picture 30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a:xfrm>
            <a:off x="3343147" y="3486913"/>
            <a:ext cx="3329432" cy="552703"/>
          </a:xfrm>
          <a:prstGeom prst="rect">
            <a:avLst/>
          </a:prstGeom>
          <a:noFill/>
        </p:spPr>
      </p:pic>
      <p:sp>
        <p:nvSpPr>
          <p:cNvPr id="309" name="Freeform 309"/>
          <p:cNvSpPr/>
          <p:nvPr/>
        </p:nvSpPr>
        <p:spPr>
          <a:xfrm>
            <a:off x="3355847" y="3499612"/>
            <a:ext cx="3304033" cy="527304"/>
          </a:xfrm>
          <a:custGeom>
            <a:avLst/>
            <a:gdLst/>
            <a:ahLst/>
            <a:cxnLst/>
            <a:rect l="0" t="0" r="0" b="0"/>
            <a:pathLst>
              <a:path w="3304033" h="527304">
                <a:moveTo>
                  <a:pt x="3157729" y="390144"/>
                </a:moveTo>
                <a:lnTo>
                  <a:pt x="3300984" y="390144"/>
                </a:lnTo>
                <a:lnTo>
                  <a:pt x="3300984" y="518160"/>
                </a:lnTo>
                <a:lnTo>
                  <a:pt x="3157729" y="518160"/>
                </a:lnTo>
                <a:close/>
                <a:moveTo>
                  <a:pt x="310897" y="4056888"/>
                </a:moveTo>
                <a:moveTo>
                  <a:pt x="1377697" y="338329"/>
                </a:moveTo>
                <a:cubicBezTo>
                  <a:pt x="1356361" y="347473"/>
                  <a:pt x="1338073" y="353568"/>
                  <a:pt x="1313688" y="359665"/>
                </a:cubicBezTo>
                <a:cubicBezTo>
                  <a:pt x="1286256" y="365760"/>
                  <a:pt x="1267968" y="374904"/>
                  <a:pt x="1258824" y="381000"/>
                </a:cubicBezTo>
                <a:cubicBezTo>
                  <a:pt x="1252729" y="390144"/>
                  <a:pt x="1246632" y="399288"/>
                  <a:pt x="1246632" y="408433"/>
                </a:cubicBezTo>
                <a:cubicBezTo>
                  <a:pt x="1246632" y="420624"/>
                  <a:pt x="1252729" y="429768"/>
                  <a:pt x="1258824" y="435865"/>
                </a:cubicBezTo>
                <a:cubicBezTo>
                  <a:pt x="1267968" y="441960"/>
                  <a:pt x="1280161" y="448056"/>
                  <a:pt x="1295400" y="448056"/>
                </a:cubicBezTo>
                <a:cubicBezTo>
                  <a:pt x="1310641" y="448056"/>
                  <a:pt x="1325881" y="441960"/>
                  <a:pt x="1338073" y="435865"/>
                </a:cubicBezTo>
                <a:cubicBezTo>
                  <a:pt x="1353312" y="426721"/>
                  <a:pt x="1362456" y="417577"/>
                  <a:pt x="1368553" y="405385"/>
                </a:cubicBezTo>
                <a:cubicBezTo>
                  <a:pt x="1374649" y="396241"/>
                  <a:pt x="1377697" y="381000"/>
                  <a:pt x="1377697" y="362712"/>
                </a:cubicBezTo>
                <a:close/>
                <a:moveTo>
                  <a:pt x="362712" y="4056888"/>
                </a:moveTo>
                <a:moveTo>
                  <a:pt x="2849881" y="134112"/>
                </a:moveTo>
                <a:cubicBezTo>
                  <a:pt x="2892553" y="134112"/>
                  <a:pt x="2926081" y="137160"/>
                  <a:pt x="2947417" y="143256"/>
                </a:cubicBezTo>
                <a:cubicBezTo>
                  <a:pt x="2968753" y="149353"/>
                  <a:pt x="2987041" y="161544"/>
                  <a:pt x="3002281" y="176785"/>
                </a:cubicBezTo>
                <a:cubicBezTo>
                  <a:pt x="3014473" y="188977"/>
                  <a:pt x="3026664" y="210312"/>
                  <a:pt x="3035808" y="234697"/>
                </a:cubicBezTo>
                <a:lnTo>
                  <a:pt x="2898649" y="246888"/>
                </a:lnTo>
                <a:cubicBezTo>
                  <a:pt x="2895600" y="234697"/>
                  <a:pt x="2889505" y="225553"/>
                  <a:pt x="2883408" y="222504"/>
                </a:cubicBezTo>
                <a:cubicBezTo>
                  <a:pt x="2871217" y="213360"/>
                  <a:pt x="2855976" y="210312"/>
                  <a:pt x="2840737" y="210312"/>
                </a:cubicBezTo>
                <a:cubicBezTo>
                  <a:pt x="2825497" y="210312"/>
                  <a:pt x="2813305" y="213360"/>
                  <a:pt x="2807208" y="219456"/>
                </a:cubicBezTo>
                <a:cubicBezTo>
                  <a:pt x="2798064" y="225553"/>
                  <a:pt x="2795017" y="231648"/>
                  <a:pt x="2795017" y="240792"/>
                </a:cubicBezTo>
                <a:cubicBezTo>
                  <a:pt x="2795017" y="249936"/>
                  <a:pt x="2798064" y="256033"/>
                  <a:pt x="2810256" y="259080"/>
                </a:cubicBezTo>
                <a:cubicBezTo>
                  <a:pt x="2819400" y="265177"/>
                  <a:pt x="2837688" y="268224"/>
                  <a:pt x="2871217" y="274321"/>
                </a:cubicBezTo>
                <a:cubicBezTo>
                  <a:pt x="2916937" y="277368"/>
                  <a:pt x="2953512" y="286512"/>
                  <a:pt x="2977897" y="295656"/>
                </a:cubicBezTo>
                <a:cubicBezTo>
                  <a:pt x="2999232" y="304800"/>
                  <a:pt x="3017520" y="320041"/>
                  <a:pt x="3029712" y="338329"/>
                </a:cubicBezTo>
                <a:cubicBezTo>
                  <a:pt x="3041905" y="353568"/>
                  <a:pt x="3051049" y="374904"/>
                  <a:pt x="3051049" y="396241"/>
                </a:cubicBezTo>
                <a:cubicBezTo>
                  <a:pt x="3051049" y="417577"/>
                  <a:pt x="3041905" y="438912"/>
                  <a:pt x="3029712" y="460248"/>
                </a:cubicBezTo>
                <a:cubicBezTo>
                  <a:pt x="3017520" y="478536"/>
                  <a:pt x="2996185" y="496824"/>
                  <a:pt x="2968753" y="509017"/>
                </a:cubicBezTo>
                <a:cubicBezTo>
                  <a:pt x="2938273" y="521209"/>
                  <a:pt x="2901697" y="527304"/>
                  <a:pt x="2852929" y="527304"/>
                </a:cubicBezTo>
                <a:cubicBezTo>
                  <a:pt x="2782824" y="527304"/>
                  <a:pt x="2734056" y="518160"/>
                  <a:pt x="2706624" y="496824"/>
                </a:cubicBezTo>
                <a:cubicBezTo>
                  <a:pt x="2676144" y="478536"/>
                  <a:pt x="2657856" y="451104"/>
                  <a:pt x="2648712" y="414529"/>
                </a:cubicBezTo>
                <a:lnTo>
                  <a:pt x="2791968" y="399288"/>
                </a:lnTo>
                <a:cubicBezTo>
                  <a:pt x="2798064" y="417577"/>
                  <a:pt x="2807208" y="429768"/>
                  <a:pt x="2816353" y="435865"/>
                </a:cubicBezTo>
                <a:cubicBezTo>
                  <a:pt x="2828544" y="445009"/>
                  <a:pt x="2843785" y="448056"/>
                  <a:pt x="2859024" y="448056"/>
                </a:cubicBezTo>
                <a:cubicBezTo>
                  <a:pt x="2880361" y="448056"/>
                  <a:pt x="2895600" y="445009"/>
                  <a:pt x="2904744" y="435865"/>
                </a:cubicBezTo>
                <a:cubicBezTo>
                  <a:pt x="2913888" y="429768"/>
                  <a:pt x="2916937" y="420624"/>
                  <a:pt x="2916937" y="411480"/>
                </a:cubicBezTo>
                <a:cubicBezTo>
                  <a:pt x="2916937" y="402336"/>
                  <a:pt x="2910841" y="393192"/>
                  <a:pt x="2901697" y="387097"/>
                </a:cubicBezTo>
                <a:cubicBezTo>
                  <a:pt x="2892553" y="384048"/>
                  <a:pt x="2874264" y="377953"/>
                  <a:pt x="2840737" y="374904"/>
                </a:cubicBezTo>
                <a:cubicBezTo>
                  <a:pt x="2788920" y="365760"/>
                  <a:pt x="2755393" y="356617"/>
                  <a:pt x="2734056" y="350521"/>
                </a:cubicBezTo>
                <a:cubicBezTo>
                  <a:pt x="2715768" y="341377"/>
                  <a:pt x="2700529" y="329185"/>
                  <a:pt x="2685288" y="310897"/>
                </a:cubicBezTo>
                <a:cubicBezTo>
                  <a:pt x="2673097" y="292609"/>
                  <a:pt x="2667000" y="274321"/>
                  <a:pt x="2667000" y="249936"/>
                </a:cubicBezTo>
                <a:cubicBezTo>
                  <a:pt x="2667000" y="225553"/>
                  <a:pt x="2673097" y="204217"/>
                  <a:pt x="2688337" y="185929"/>
                </a:cubicBezTo>
                <a:cubicBezTo>
                  <a:pt x="2700529" y="167641"/>
                  <a:pt x="2721864" y="155448"/>
                  <a:pt x="2746249" y="146304"/>
                </a:cubicBezTo>
                <a:cubicBezTo>
                  <a:pt x="2770632" y="137160"/>
                  <a:pt x="2807208" y="134112"/>
                  <a:pt x="2849881" y="134112"/>
                </a:cubicBezTo>
                <a:close/>
                <a:moveTo>
                  <a:pt x="566929" y="4056888"/>
                </a:moveTo>
                <a:moveTo>
                  <a:pt x="1908049" y="134112"/>
                </a:moveTo>
                <a:cubicBezTo>
                  <a:pt x="1947673" y="134112"/>
                  <a:pt x="1981200" y="146304"/>
                  <a:pt x="2002537" y="167641"/>
                </a:cubicBezTo>
                <a:cubicBezTo>
                  <a:pt x="2026920" y="192024"/>
                  <a:pt x="2036064" y="228600"/>
                  <a:pt x="2036064" y="280417"/>
                </a:cubicBezTo>
                <a:lnTo>
                  <a:pt x="2036064" y="518160"/>
                </a:lnTo>
                <a:lnTo>
                  <a:pt x="1892808" y="518160"/>
                </a:lnTo>
                <a:lnTo>
                  <a:pt x="1892808" y="310897"/>
                </a:lnTo>
                <a:cubicBezTo>
                  <a:pt x="1892808" y="286512"/>
                  <a:pt x="1886712" y="271273"/>
                  <a:pt x="1877568" y="262129"/>
                </a:cubicBezTo>
                <a:cubicBezTo>
                  <a:pt x="1871473" y="249936"/>
                  <a:pt x="1856232" y="246888"/>
                  <a:pt x="1840993" y="246888"/>
                </a:cubicBezTo>
                <a:cubicBezTo>
                  <a:pt x="1825753" y="246888"/>
                  <a:pt x="1810512" y="252985"/>
                  <a:pt x="1798320" y="265177"/>
                </a:cubicBezTo>
                <a:cubicBezTo>
                  <a:pt x="1789176" y="280417"/>
                  <a:pt x="1783081" y="304800"/>
                  <a:pt x="1783081" y="338329"/>
                </a:cubicBezTo>
                <a:lnTo>
                  <a:pt x="1783081" y="518160"/>
                </a:lnTo>
                <a:lnTo>
                  <a:pt x="1639824" y="518160"/>
                </a:lnTo>
                <a:lnTo>
                  <a:pt x="1639824" y="143256"/>
                </a:lnTo>
                <a:lnTo>
                  <a:pt x="1773937" y="143256"/>
                </a:lnTo>
                <a:lnTo>
                  <a:pt x="1773937" y="204217"/>
                </a:lnTo>
                <a:cubicBezTo>
                  <a:pt x="1792224" y="176785"/>
                  <a:pt x="1813561" y="161544"/>
                  <a:pt x="1834897" y="149353"/>
                </a:cubicBezTo>
                <a:cubicBezTo>
                  <a:pt x="1853185" y="140209"/>
                  <a:pt x="1880617" y="134112"/>
                  <a:pt x="1908049" y="134112"/>
                </a:cubicBezTo>
                <a:close/>
                <a:moveTo>
                  <a:pt x="566929" y="4056888"/>
                </a:moveTo>
                <a:moveTo>
                  <a:pt x="1307593" y="134112"/>
                </a:moveTo>
                <a:cubicBezTo>
                  <a:pt x="1353312" y="134112"/>
                  <a:pt x="1386841" y="137160"/>
                  <a:pt x="1414273" y="140209"/>
                </a:cubicBezTo>
                <a:cubicBezTo>
                  <a:pt x="1438656" y="146304"/>
                  <a:pt x="1459993" y="155448"/>
                  <a:pt x="1478281" y="170688"/>
                </a:cubicBezTo>
                <a:cubicBezTo>
                  <a:pt x="1490473" y="182880"/>
                  <a:pt x="1499617" y="198121"/>
                  <a:pt x="1508761" y="216409"/>
                </a:cubicBezTo>
                <a:cubicBezTo>
                  <a:pt x="1514856" y="234697"/>
                  <a:pt x="1517905" y="252985"/>
                  <a:pt x="1517905" y="271273"/>
                </a:cubicBezTo>
                <a:lnTo>
                  <a:pt x="1517905" y="438912"/>
                </a:lnTo>
                <a:cubicBezTo>
                  <a:pt x="1517905" y="457200"/>
                  <a:pt x="1517905" y="469392"/>
                  <a:pt x="1520953" y="478536"/>
                </a:cubicBezTo>
                <a:cubicBezTo>
                  <a:pt x="1524000" y="490729"/>
                  <a:pt x="1530097" y="502921"/>
                  <a:pt x="1536193" y="518160"/>
                </a:cubicBezTo>
                <a:lnTo>
                  <a:pt x="1402081" y="518160"/>
                </a:lnTo>
                <a:cubicBezTo>
                  <a:pt x="1395985" y="509017"/>
                  <a:pt x="1392937" y="499873"/>
                  <a:pt x="1389888" y="496824"/>
                </a:cubicBezTo>
                <a:cubicBezTo>
                  <a:pt x="1389888" y="490729"/>
                  <a:pt x="1386841" y="481585"/>
                  <a:pt x="1386841" y="472441"/>
                </a:cubicBezTo>
                <a:cubicBezTo>
                  <a:pt x="1365505" y="490729"/>
                  <a:pt x="1347217" y="502921"/>
                  <a:pt x="1328929" y="512065"/>
                </a:cubicBezTo>
                <a:cubicBezTo>
                  <a:pt x="1304544" y="521209"/>
                  <a:pt x="1274064" y="527304"/>
                  <a:pt x="1240537" y="527304"/>
                </a:cubicBezTo>
                <a:cubicBezTo>
                  <a:pt x="1194817" y="527304"/>
                  <a:pt x="1161288" y="515112"/>
                  <a:pt x="1136905" y="496824"/>
                </a:cubicBezTo>
                <a:cubicBezTo>
                  <a:pt x="1115568" y="475488"/>
                  <a:pt x="1103376" y="448056"/>
                  <a:pt x="1103376" y="417577"/>
                </a:cubicBezTo>
                <a:cubicBezTo>
                  <a:pt x="1103376" y="390144"/>
                  <a:pt x="1112520" y="365760"/>
                  <a:pt x="1127761" y="347473"/>
                </a:cubicBezTo>
                <a:cubicBezTo>
                  <a:pt x="1146049" y="329185"/>
                  <a:pt x="1176529" y="316992"/>
                  <a:pt x="1222249" y="307848"/>
                </a:cubicBezTo>
                <a:cubicBezTo>
                  <a:pt x="1274064" y="295656"/>
                  <a:pt x="1310641" y="289560"/>
                  <a:pt x="1325881" y="283465"/>
                </a:cubicBezTo>
                <a:cubicBezTo>
                  <a:pt x="1341120" y="280417"/>
                  <a:pt x="1359408" y="274321"/>
                  <a:pt x="1377697" y="268224"/>
                </a:cubicBezTo>
                <a:cubicBezTo>
                  <a:pt x="1377697" y="249936"/>
                  <a:pt x="1374649" y="237744"/>
                  <a:pt x="1365505" y="228600"/>
                </a:cubicBezTo>
                <a:cubicBezTo>
                  <a:pt x="1359408" y="222504"/>
                  <a:pt x="1347217" y="219456"/>
                  <a:pt x="1328929" y="219456"/>
                </a:cubicBezTo>
                <a:cubicBezTo>
                  <a:pt x="1304544" y="219456"/>
                  <a:pt x="1286256" y="222504"/>
                  <a:pt x="1274064" y="231648"/>
                </a:cubicBezTo>
                <a:cubicBezTo>
                  <a:pt x="1264920" y="237744"/>
                  <a:pt x="1258824" y="246888"/>
                  <a:pt x="1252729" y="265177"/>
                </a:cubicBezTo>
                <a:lnTo>
                  <a:pt x="1115568" y="249936"/>
                </a:lnTo>
                <a:cubicBezTo>
                  <a:pt x="1118617" y="225553"/>
                  <a:pt x="1127761" y="207265"/>
                  <a:pt x="1136905" y="192024"/>
                </a:cubicBezTo>
                <a:cubicBezTo>
                  <a:pt x="1146049" y="179833"/>
                  <a:pt x="1161288" y="167641"/>
                  <a:pt x="1179576" y="155448"/>
                </a:cubicBezTo>
                <a:cubicBezTo>
                  <a:pt x="1191768" y="149353"/>
                  <a:pt x="1210056" y="143256"/>
                  <a:pt x="1234441" y="140209"/>
                </a:cubicBezTo>
                <a:cubicBezTo>
                  <a:pt x="1255776" y="134112"/>
                  <a:pt x="1283208" y="134112"/>
                  <a:pt x="1307593" y="134112"/>
                </a:cubicBezTo>
                <a:close/>
                <a:moveTo>
                  <a:pt x="566929" y="4056888"/>
                </a:moveTo>
                <a:moveTo>
                  <a:pt x="3151633" y="0"/>
                </a:moveTo>
                <a:lnTo>
                  <a:pt x="3304033" y="0"/>
                </a:lnTo>
                <a:lnTo>
                  <a:pt x="3304033" y="115824"/>
                </a:lnTo>
                <a:lnTo>
                  <a:pt x="3276600" y="353568"/>
                </a:lnTo>
                <a:lnTo>
                  <a:pt x="3179064" y="353568"/>
                </a:lnTo>
                <a:lnTo>
                  <a:pt x="3151633" y="115824"/>
                </a:lnTo>
                <a:close/>
                <a:moveTo>
                  <a:pt x="701041" y="4056888"/>
                </a:moveTo>
                <a:moveTo>
                  <a:pt x="2157985" y="0"/>
                </a:moveTo>
                <a:lnTo>
                  <a:pt x="2304288" y="0"/>
                </a:lnTo>
                <a:lnTo>
                  <a:pt x="2304288" y="268224"/>
                </a:lnTo>
                <a:lnTo>
                  <a:pt x="2410968" y="143256"/>
                </a:lnTo>
                <a:lnTo>
                  <a:pt x="2590800" y="143256"/>
                </a:lnTo>
                <a:lnTo>
                  <a:pt x="2453641" y="274321"/>
                </a:lnTo>
                <a:lnTo>
                  <a:pt x="2596897" y="518160"/>
                </a:lnTo>
                <a:lnTo>
                  <a:pt x="2435353" y="518160"/>
                </a:lnTo>
                <a:lnTo>
                  <a:pt x="2359153" y="368809"/>
                </a:lnTo>
                <a:lnTo>
                  <a:pt x="2304288" y="420624"/>
                </a:lnTo>
                <a:lnTo>
                  <a:pt x="2304288" y="518160"/>
                </a:lnTo>
                <a:lnTo>
                  <a:pt x="2157985" y="518160"/>
                </a:lnTo>
                <a:close/>
                <a:moveTo>
                  <a:pt x="701041" y="4056888"/>
                </a:moveTo>
                <a:moveTo>
                  <a:pt x="603505" y="0"/>
                </a:moveTo>
                <a:lnTo>
                  <a:pt x="746761" y="0"/>
                </a:lnTo>
                <a:lnTo>
                  <a:pt x="746761" y="188977"/>
                </a:lnTo>
                <a:cubicBezTo>
                  <a:pt x="765049" y="170688"/>
                  <a:pt x="786385" y="155448"/>
                  <a:pt x="804673" y="146304"/>
                </a:cubicBezTo>
                <a:cubicBezTo>
                  <a:pt x="826008" y="137160"/>
                  <a:pt x="847344" y="134112"/>
                  <a:pt x="874776" y="134112"/>
                </a:cubicBezTo>
                <a:cubicBezTo>
                  <a:pt x="914400" y="134112"/>
                  <a:pt x="944881" y="146304"/>
                  <a:pt x="966217" y="170688"/>
                </a:cubicBezTo>
                <a:cubicBezTo>
                  <a:pt x="990600" y="192024"/>
                  <a:pt x="999744" y="228600"/>
                  <a:pt x="999744" y="280417"/>
                </a:cubicBezTo>
                <a:lnTo>
                  <a:pt x="999744" y="518160"/>
                </a:lnTo>
                <a:lnTo>
                  <a:pt x="856488" y="518160"/>
                </a:lnTo>
                <a:lnTo>
                  <a:pt x="856488" y="310897"/>
                </a:lnTo>
                <a:cubicBezTo>
                  <a:pt x="856488" y="286512"/>
                  <a:pt x="850393" y="271273"/>
                  <a:pt x="841249" y="262129"/>
                </a:cubicBezTo>
                <a:cubicBezTo>
                  <a:pt x="835153" y="249936"/>
                  <a:pt x="819912" y="246888"/>
                  <a:pt x="804673" y="246888"/>
                </a:cubicBezTo>
                <a:cubicBezTo>
                  <a:pt x="789432" y="246888"/>
                  <a:pt x="774193" y="252985"/>
                  <a:pt x="762000" y="265177"/>
                </a:cubicBezTo>
                <a:cubicBezTo>
                  <a:pt x="752856" y="280417"/>
                  <a:pt x="746761" y="304800"/>
                  <a:pt x="746761" y="338329"/>
                </a:cubicBezTo>
                <a:lnTo>
                  <a:pt x="746761" y="518160"/>
                </a:lnTo>
                <a:lnTo>
                  <a:pt x="603505" y="518160"/>
                </a:lnTo>
                <a:close/>
                <a:moveTo>
                  <a:pt x="701041" y="4056888"/>
                </a:moveTo>
                <a:moveTo>
                  <a:pt x="0" y="0"/>
                </a:moveTo>
                <a:lnTo>
                  <a:pt x="487681" y="0"/>
                </a:lnTo>
                <a:lnTo>
                  <a:pt x="487681" y="128017"/>
                </a:lnTo>
                <a:lnTo>
                  <a:pt x="323088" y="128017"/>
                </a:lnTo>
                <a:lnTo>
                  <a:pt x="323088" y="518160"/>
                </a:lnTo>
                <a:lnTo>
                  <a:pt x="164593" y="518160"/>
                </a:lnTo>
                <a:lnTo>
                  <a:pt x="164593" y="128017"/>
                </a:lnTo>
                <a:lnTo>
                  <a:pt x="0" y="128017"/>
                </a:lnTo>
                <a:close/>
                <a:moveTo>
                  <a:pt x="701041" y="4056888"/>
                </a:moveTo>
              </a:path>
            </a:pathLst>
          </a:custGeom>
          <a:noFill/>
          <a:ln w="9142" cap="flat" cmpd="sng">
            <a:solidFill>
              <a:srgbClr val="F4F5FA">
                <a:alpha val="100000"/>
              </a:srgbClr>
            </a:solidFill>
            <a:miter lim="1016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15891</TotalTime>
  <Words>997</Words>
  <Application>Microsoft Office PowerPoint</Application>
  <PresentationFormat>Custom</PresentationFormat>
  <Paragraphs>96</Paragraphs>
  <Slides>19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Tahoma</vt:lpstr>
      <vt:lpstr>TimesNewRomanPSMT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SGDH-IT Thien.Dinh(丁德善)</dc:creator>
  <cp:lastModifiedBy>SGDH-IT DUC.THIEN</cp:lastModifiedBy>
  <cp:revision>192</cp:revision>
  <dcterms:modified xsi:type="dcterms:W3CDTF">2026-03-07T03:04:10Z</dcterms:modified>
</cp:coreProperties>
</file>